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9" r:id="rId4"/>
    <p:sldId id="258" r:id="rId5"/>
    <p:sldId id="306" r:id="rId6"/>
    <p:sldId id="307" r:id="rId7"/>
    <p:sldId id="260" r:id="rId8"/>
    <p:sldId id="261" r:id="rId9"/>
    <p:sldId id="308" r:id="rId10"/>
    <p:sldId id="309" r:id="rId11"/>
    <p:sldId id="263" r:id="rId12"/>
    <p:sldId id="262" r:id="rId13"/>
    <p:sldId id="310" r:id="rId14"/>
    <p:sldId id="265" r:id="rId15"/>
    <p:sldId id="264" r:id="rId16"/>
    <p:sldId id="311" r:id="rId17"/>
    <p:sldId id="312" r:id="rId18"/>
    <p:sldId id="313" r:id="rId19"/>
    <p:sldId id="266" r:id="rId20"/>
    <p:sldId id="267" r:id="rId21"/>
    <p:sldId id="268" r:id="rId22"/>
    <p:sldId id="269" r:id="rId23"/>
    <p:sldId id="270" r:id="rId24"/>
    <p:sldId id="271" r:id="rId25"/>
    <p:sldId id="314" r:id="rId26"/>
    <p:sldId id="315" r:id="rId27"/>
    <p:sldId id="272" r:id="rId28"/>
    <p:sldId id="288" r:id="rId29"/>
    <p:sldId id="287" r:id="rId30"/>
    <p:sldId id="316" r:id="rId31"/>
    <p:sldId id="317" r:id="rId32"/>
    <p:sldId id="318" r:id="rId33"/>
    <p:sldId id="319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305" r:id="rId46"/>
    <p:sldId id="286" r:id="rId47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29D65-407F-CF44-8C41-EFFEB70BF60B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F32F8-90EB-B34C-BDFB-9BB6566A942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2113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4F32F8-90EB-B34C-BDFB-9BB6566A9423}" type="slidenum">
              <a:rPr lang="en-EG" smtClean="0"/>
              <a:t>17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48832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9588-4671-8509-1931-6447CAE3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A64D3-A6B7-6B4B-10AF-3523F3020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1B3A7-811C-66AB-02DA-D7B76E46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32D0-CAF0-D2E8-30BB-0D9D91C8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1B042-DB14-2A09-0A83-B6FC3D451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7556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AAF0-5AF8-7324-4E2A-427CE024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D3C70-AE91-7067-45D0-8E506DF0E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A283D-6BD5-2325-A44E-69F5751A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23632-9ED1-6B93-4DF7-3908FB6A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DCFF-8E4A-C3DB-A225-90EE507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1442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9926-F78A-6AD7-1798-76052460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0BC72-8D36-3E3B-2D19-B7BC13C95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FBBBC-1694-C870-5A8F-2EB34840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3BB6-DB76-D620-A021-50BB6E0D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6223-0892-8850-3188-CB533839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035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24A3-0216-A69F-748B-3B941E71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3F9FC-99C2-CA1D-0827-002E35660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D1100-2231-94D4-2D4E-FF483A0AC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F84AE-4CDB-1BC6-E660-B3FA1136F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11618-783C-ABEF-2F57-34F9A803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E3C4B-1A3A-A2BB-E4B3-2954D214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4324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8F51-B2CD-0E90-7446-C18778AF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00EB3-CDD4-338B-D261-45F12FA23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9D81E-0044-A115-0640-CAB69BAA2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7E5D1-42D6-9D9A-BB8A-D6973BF7A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BC77E-7503-8D33-3F84-FD13C687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4C65D-D108-8A14-CE19-09B6AA42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19135-3B01-4E1E-0EBE-135C4956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AAEC8-1992-E94C-C730-7EE45B21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3590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B51D-5FD3-E10F-60F4-C378E0FF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FB317-217C-6261-FE51-CA1C1BA0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0B370-EC39-D42B-6907-1E9FAA7C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FDE2E-71E3-47AD-8F1F-EAEC9244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4888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2B4FD-3D3C-D89F-F4E7-C6E14365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D115D-1805-6B4C-577E-E67D2705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741E8-B0BF-B582-F5C7-ABD73B5B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11469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FC2B-66C8-56AF-9AF8-D3386064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2A47F-38BF-320A-6024-14EB53B7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B8057-A3EB-C6A8-C295-BC357D1A0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81E33-51DA-E7FF-DB44-62FDD611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7A5EF-7E28-8C0E-DC5A-DB4EAF5E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A645A-B83B-3DCD-3E69-89571F7B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7974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1970-1D83-C23A-FA2E-CF1068EB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EF05E-1E8D-3BA2-6CC6-978E4D6BE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B1E7-AD67-1554-3F37-BE79B645D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61AB4-4124-6C90-D160-888E6CA6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3C2F0-9683-27FC-C259-62726C11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E5E5-0DC4-8348-D61F-A9CCE478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3874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523E-F2C2-11BF-8A76-DFE0406C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07DE2-3EF7-A4BA-7378-14E07FCA8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7D170-007B-E2E0-5CC9-A92400E0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5AD53-CF12-0D14-83A9-31BE4B88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CA317-6407-F056-395F-CC06D9CD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7103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30728-431C-DA05-2D2C-3DC3B0F13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BCB39-A69C-09D6-9D31-C0F646682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ED40A-C579-79EE-B7BB-81508F7B8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1DC1-DE12-B56C-983C-D1451F55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FA06-9642-EEB0-D3E6-53A5A714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971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09C9A-751B-BE6C-FE6D-11F73D7B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B6285-A312-C85B-EA73-65B3C874A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143AF-DEB1-8163-B0D3-7B16084ED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8FFDB-40ED-1E47-9EAF-ECB451501F3E}" type="datetimeFigureOut">
              <a:rPr lang="en-EG" smtClean="0"/>
              <a:t>01/04/2025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8A6A-198E-E9D4-D6C3-A11475F96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45BCB-BCD9-131A-DD35-8B0B0DF7D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D40B6-F1C3-FA41-B79C-85AF71AEDBAF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12986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ximum-size-subarray-sum-equals-k/" TargetMode="External"/><Relationship Id="rId2" Type="http://schemas.openxmlformats.org/officeDocument/2006/relationships/hyperlink" Target="https://leetcode.com/problems/subarray-sum-equals-k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2F9F-70E3-26D0-5A50-07E86165D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G" dirty="0"/>
              <a:t>Problem Solving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E585-A5EA-2B10-C800-A5D304AF4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EG" dirty="0"/>
              <a:t>Muhammad Abdulkariim</a:t>
            </a:r>
          </a:p>
        </p:txBody>
      </p:sp>
    </p:spTree>
    <p:extLst>
      <p:ext uri="{BB962C8B-B14F-4D97-AF65-F5344CB8AC3E}">
        <p14:creationId xmlns:p14="http://schemas.microsoft.com/office/powerpoint/2010/main" val="36898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72E2-B96B-99FB-D34B-3A41B6DC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065AC-5F68-C91C-1549-60ED71FB1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Problem-solving is pattern recognition</a:t>
            </a:r>
            <a:r>
              <a:rPr lang="en-US" b="0" i="0" dirty="0">
                <a:effectLst/>
                <a:latin typeface="Inter"/>
              </a:rPr>
              <a:t>: Many problems share similar structures and can be solved using specific techniques.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Efficiency matters</a:t>
            </a:r>
            <a:r>
              <a:rPr lang="en-US" b="0" i="0" dirty="0">
                <a:effectLst/>
                <a:latin typeface="Inter"/>
              </a:rPr>
              <a:t>: Choosing the right technique can reduce complexity from </a:t>
            </a:r>
            <a:r>
              <a:rPr lang="en-US" b="0" i="0" dirty="0">
                <a:effectLst/>
                <a:latin typeface="KaTeX_Main"/>
              </a:rPr>
              <a:t>O(n2)</a:t>
            </a:r>
            <a:r>
              <a:rPr lang="en-US" b="0" i="0" dirty="0">
                <a:effectLst/>
                <a:latin typeface="Inter"/>
              </a:rPr>
              <a:t> to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 or even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0" dirty="0" err="1">
                <a:effectLst/>
                <a:latin typeface="KaTeX_Main"/>
              </a:rPr>
              <a:t>log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Goal of this session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Learn to </a:t>
            </a:r>
            <a:r>
              <a:rPr lang="en-US" b="1" i="0" dirty="0">
                <a:effectLst/>
                <a:latin typeface="Inter"/>
              </a:rPr>
              <a:t>identify problem patterns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Understand </a:t>
            </a:r>
            <a:r>
              <a:rPr lang="en-US" b="1" i="0" dirty="0">
                <a:effectLst/>
                <a:latin typeface="Inter"/>
              </a:rPr>
              <a:t>when to apply specific techniques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Solve problems </a:t>
            </a:r>
            <a:r>
              <a:rPr lang="en-US" b="1" i="0" dirty="0">
                <a:effectLst/>
                <a:latin typeface="Inter"/>
              </a:rPr>
              <a:t>step-by-step</a:t>
            </a:r>
            <a:r>
              <a:rPr lang="en-US" b="0" i="0" dirty="0">
                <a:effectLst/>
                <a:latin typeface="Inter"/>
              </a:rPr>
              <a:t> with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12047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6F6B-77D5-99A0-2FC4-D1EFE898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Two Sum | Brute Force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10DD-F5C5-ABEF-7627-5EA02D6E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Given a </a:t>
            </a:r>
            <a:r>
              <a:rPr lang="en-US" b="1" i="0" dirty="0">
                <a:effectLst/>
                <a:latin typeface="Inter"/>
              </a:rPr>
              <a:t>sorted array</a:t>
            </a:r>
            <a:r>
              <a:rPr lang="en-US" b="0" i="0" dirty="0">
                <a:effectLst/>
                <a:latin typeface="Inter"/>
              </a:rPr>
              <a:t> of integers, find two numbers that add up to a target. Return their indices.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Example: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Input: [2, 7, 11, 15], Target: 9 → Output: [0, 1] (since 2 + 7 = 9).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Brute-Force Approach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Check every possible pair using </a:t>
            </a:r>
            <a:r>
              <a:rPr lang="en-US" b="1" i="0" dirty="0">
                <a:effectLst/>
                <a:latin typeface="Inter"/>
              </a:rPr>
              <a:t>nested loops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Time Complexity: </a:t>
            </a:r>
            <a:r>
              <a:rPr lang="en-US" b="1" i="0" dirty="0">
                <a:effectLst/>
                <a:latin typeface="Inter"/>
              </a:rPr>
              <a:t>O(n²)</a:t>
            </a:r>
            <a:r>
              <a:rPr lang="en-US" b="0" i="0" dirty="0">
                <a:effectLst/>
                <a:latin typeface="Inter"/>
              </a:rPr>
              <a:t> (Inefficient for large arrays).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Why Brute Force Fails?</a:t>
            </a:r>
            <a:endParaRPr lang="en-US" b="0" i="0" dirty="0">
              <a:effectLst/>
              <a:latin typeface="Inter"/>
            </a:endParaRPr>
          </a:p>
          <a:p>
            <a:pPr lvl="1"/>
            <a:r>
              <a:rPr lang="en-US" b="0" i="0" dirty="0">
                <a:effectLst/>
                <a:latin typeface="Inter"/>
              </a:rPr>
              <a:t>It checks all possible pairs, even unnecessary ones (e.g., if the array is sorted, we can do better).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3373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E654-27B4-86E5-B2B4-E801E761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Two-Pointer Technique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3D6C-9A40-E550-164A-CE29FF389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800"/>
          </a:xfrm>
        </p:spPr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two pointers (indices) to traverse a data structure (e.g., array or string).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sorted arrays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sequences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where you need to find </a:t>
            </a:r>
            <a:r>
              <a:rPr lang="en-US" b="1" i="0" dirty="0">
                <a:effectLst/>
                <a:latin typeface="Inter"/>
              </a:rPr>
              <a:t>pairs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subarrays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sequences</a:t>
            </a:r>
            <a:r>
              <a:rPr lang="en-US" b="0" i="0" dirty="0">
                <a:effectLst/>
                <a:latin typeface="Inter"/>
              </a:rPr>
              <a:t> that satisfy certain conditions.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"sorted array"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"pair of elements"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"contiguous sequence"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brute force involves nested loops </a:t>
            </a:r>
            <a:r>
              <a:rPr lang="en-US" b="0" i="0" dirty="0">
                <a:effectLst/>
                <a:latin typeface="KaTeX_Main"/>
              </a:rPr>
              <a:t>O(n</a:t>
            </a:r>
            <a:r>
              <a:rPr lang="en-US" b="0" i="0" baseline="30000" dirty="0">
                <a:effectLst/>
                <a:latin typeface="KaTeX_Main"/>
              </a:rPr>
              <a:t>2</a:t>
            </a:r>
            <a:r>
              <a:rPr lang="en-US" b="0" i="0" dirty="0">
                <a:effectLst/>
                <a:latin typeface="Inter"/>
              </a:rPr>
              <a:t>), consider two-pointer for </a:t>
            </a:r>
            <a:r>
              <a:rPr lang="en-US" b="0" i="0" dirty="0">
                <a:effectLst/>
                <a:latin typeface="KaTeX_Main"/>
              </a:rPr>
              <a:t>O(n)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355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9EF5-C44A-F7AB-CBF9-EA0D1B06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430D-FE5A-E4C4-A441-799E28D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Two Sum | Two Pointers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68A09-DADC-B294-6846-34CD9D52E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 sorted array, find two numbers that add up to a target.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Initialize two pointers: left = 0 and right = </a:t>
            </a:r>
            <a:r>
              <a:rPr lang="en-US" b="0" i="0" dirty="0" err="1">
                <a:effectLst/>
                <a:latin typeface="Inter"/>
              </a:rPr>
              <a:t>len</a:t>
            </a:r>
            <a:r>
              <a:rPr lang="en-US" b="0" i="0" dirty="0">
                <a:effectLst/>
                <a:latin typeface="Inter"/>
              </a:rPr>
              <a:t>(arr) - 1.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While left &lt; right: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 arr[left] + arr[right] == target, return [left, right].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the sum is too small, move left forward.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the sum is too large, move right backward.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no pair is found, return [-1, -1].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The array is sorted, so we can use two pointers to efficiently find the pair without checking all combinations.</a:t>
            </a:r>
          </a:p>
        </p:txBody>
      </p:sp>
    </p:spTree>
    <p:extLst>
      <p:ext uri="{BB962C8B-B14F-4D97-AF65-F5344CB8AC3E}">
        <p14:creationId xmlns:p14="http://schemas.microsoft.com/office/powerpoint/2010/main" val="115856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5C9E-05E9-40A3-C8A9-9949A9E6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0513-C908-46DB-8B98-CF90E7A8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  <a:latin typeface="Inter"/>
              </a:rPr>
              <a:t>Max Sum Subarray of Size K | Brute Force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1D43-A0B6-227A-C9CB-660EED894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559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 Statement</a:t>
            </a:r>
            <a:r>
              <a:rPr lang="en-US" b="0" i="0" dirty="0">
                <a:effectLst/>
                <a:latin typeface="Inter"/>
              </a:rPr>
              <a:t>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Given an array of integers and a number k, find the </a:t>
            </a:r>
            <a:r>
              <a:rPr lang="en-US" b="1" i="0" dirty="0">
                <a:effectLst/>
                <a:latin typeface="Inter"/>
              </a:rPr>
              <a:t>maximum sum</a:t>
            </a:r>
            <a:r>
              <a:rPr lang="en-US" b="0" i="0" dirty="0">
                <a:effectLst/>
                <a:latin typeface="Inter"/>
              </a:rPr>
              <a:t> of any contiguous subarray of size k.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Example: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Input: [2, 1, 5, 1, 3, 2], k=3 → Output: 9 (from [5, 1, 3]).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Brute-Force Approach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Calculate the sum of </a:t>
            </a:r>
            <a:r>
              <a:rPr lang="en-US" b="1" i="0" dirty="0">
                <a:effectLst/>
                <a:latin typeface="Inter"/>
              </a:rPr>
              <a:t>every possible subarray</a:t>
            </a:r>
            <a:r>
              <a:rPr lang="en-US" b="0" i="0" dirty="0">
                <a:effectLst/>
                <a:latin typeface="Inter"/>
              </a:rPr>
              <a:t> of size k.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Time Complexity: </a:t>
            </a:r>
            <a:r>
              <a:rPr lang="en-US" b="1" i="0" dirty="0">
                <a:effectLst/>
                <a:latin typeface="Inter"/>
              </a:rPr>
              <a:t>O(</a:t>
            </a:r>
            <a:r>
              <a:rPr lang="en-US" b="1" i="0" dirty="0" err="1">
                <a:effectLst/>
                <a:latin typeface="Inter"/>
              </a:rPr>
              <a:t>n·k</a:t>
            </a:r>
            <a:r>
              <a:rPr lang="en-US" b="1" i="0" dirty="0">
                <a:effectLst/>
                <a:latin typeface="Inter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Why Brute Force Fails?</a:t>
            </a:r>
            <a:endParaRPr lang="en-US" b="0" i="0" dirty="0">
              <a:effectLst/>
              <a:latin typeface="Inter"/>
            </a:endParaRPr>
          </a:p>
          <a:p>
            <a:pPr lvl="1"/>
            <a:r>
              <a:rPr lang="en-US" b="0" i="0" dirty="0">
                <a:effectLst/>
                <a:latin typeface="Inter"/>
              </a:rPr>
              <a:t>Recalculates sums for overlapping windows (e.g., [2,1,5] and [1,5,1] share [1,5]).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55728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9BB6-BDF2-BAB1-3B5C-179D1793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Sliding Window Technique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603DC-4DA7-4AC7-E4F7-20E283B0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Maintain a "window" (subarray or substring) and slide it through the data structure.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contiguous subarrays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substrings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where you need to find </a:t>
            </a:r>
            <a:r>
              <a:rPr lang="en-US" b="1" i="0" dirty="0">
                <a:effectLst/>
                <a:latin typeface="Inter"/>
              </a:rPr>
              <a:t>maximum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minimum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average</a:t>
            </a:r>
            <a:r>
              <a:rPr lang="en-US" b="0" i="0" dirty="0">
                <a:effectLst/>
                <a:latin typeface="Inter"/>
              </a:rPr>
              <a:t> of a window.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"subarray"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"substring"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"window of size k"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brute force involves nested loops </a:t>
            </a:r>
            <a:r>
              <a:rPr lang="en-US" b="0" i="0" dirty="0">
                <a:effectLst/>
                <a:latin typeface="KaTeX_Main"/>
              </a:rPr>
              <a:t>O(n</a:t>
            </a:r>
            <a:r>
              <a:rPr lang="en-US" b="0" i="0" baseline="30000" dirty="0">
                <a:effectLst/>
                <a:latin typeface="KaTeX_Main"/>
              </a:rPr>
              <a:t>2</a:t>
            </a:r>
            <a:r>
              <a:rPr lang="en-US" b="0" i="0" dirty="0">
                <a:effectLst/>
                <a:latin typeface="Inter"/>
              </a:rPr>
              <a:t>), consider sliding window for </a:t>
            </a:r>
            <a:r>
              <a:rPr lang="en-US" b="0" i="0" dirty="0">
                <a:effectLst/>
                <a:latin typeface="KaTeX_Main"/>
              </a:rPr>
              <a:t>O(n)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926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192F-3742-6EBE-97C5-5F4067CA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  <a:latin typeface="Inter"/>
              </a:rPr>
              <a:t>Max Sum Subarray of Size K | Sliding Window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D076-2B7A-7809-9907-B2FB45D86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559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an array, find the maximum sum of any contiguous subarray of size </a:t>
            </a:r>
            <a:r>
              <a:rPr lang="en-US" b="0" i="1" dirty="0">
                <a:effectLst/>
                <a:latin typeface="KaTeX_Math"/>
              </a:rPr>
              <a:t>k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Compute the sum of the first window (arr[0] to arr[k-1]).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Slide the window one element at a time: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Subtract the element leaving the window.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Add the new element entering the window.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Track the maximum sum.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The sliding window avoids recalculating the sum for overlapping windows, reducing complexity from </a:t>
            </a:r>
            <a:r>
              <a:rPr lang="en-US" b="0" i="0" dirty="0">
                <a:effectLst/>
                <a:latin typeface="KaTeX_Main"/>
              </a:rPr>
              <a:t>O(</a:t>
            </a:r>
            <a:r>
              <a:rPr lang="en-US" b="0" i="0" dirty="0" err="1">
                <a:effectLst/>
                <a:latin typeface="KaTeX_Main"/>
              </a:rPr>
              <a:t>n⋅k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1" dirty="0">
                <a:effectLst/>
                <a:latin typeface="KaTeX_Math"/>
              </a:rPr>
              <a:t> </a:t>
            </a:r>
            <a:r>
              <a:rPr lang="en-US" b="0" i="0" dirty="0">
                <a:effectLst/>
                <a:latin typeface="Inter"/>
              </a:rPr>
              <a:t>to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676273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870D-61F1-9E01-D82A-90068033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2D8E-4046-C374-D0DD-E16E9822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effectLst/>
                <a:latin typeface="Inter"/>
              </a:rPr>
              <a:t>Longest Substring Without Repeating Characters</a:t>
            </a:r>
            <a:endParaRPr lang="en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A3D6-BEBB-219D-E5A4-2920D3A5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559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 Statement</a:t>
            </a:r>
            <a:r>
              <a:rPr lang="en-US" b="0" i="0" dirty="0">
                <a:effectLst/>
                <a:latin typeface="Inter"/>
              </a:rPr>
              <a:t>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Given a string, find the </a:t>
            </a:r>
            <a:r>
              <a:rPr lang="en-US" b="1" i="0" dirty="0">
                <a:effectLst/>
                <a:latin typeface="Inter"/>
              </a:rPr>
              <a:t>length of the longest substring</a:t>
            </a:r>
            <a:r>
              <a:rPr lang="en-US" b="0" i="0" dirty="0">
                <a:effectLst/>
                <a:latin typeface="Inter"/>
              </a:rPr>
              <a:t> without repeating characters.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Example: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Input: "</a:t>
            </a:r>
            <a:r>
              <a:rPr lang="en-US" b="0" i="0" dirty="0" err="1">
                <a:effectLst/>
                <a:latin typeface="Inter"/>
              </a:rPr>
              <a:t>abcabcbb</a:t>
            </a:r>
            <a:r>
              <a:rPr lang="en-US" b="0" i="0" dirty="0">
                <a:effectLst/>
                <a:latin typeface="Inter"/>
              </a:rPr>
              <a:t>" → Output: 3 (from "</a:t>
            </a:r>
            <a:r>
              <a:rPr lang="en-US" b="0" i="0" dirty="0" err="1">
                <a:effectLst/>
                <a:latin typeface="Inter"/>
              </a:rPr>
              <a:t>abc</a:t>
            </a:r>
            <a:r>
              <a:rPr lang="en-US" b="0" i="0" dirty="0">
                <a:effectLst/>
                <a:latin typeface="Inter"/>
              </a:rPr>
              <a:t>").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Brute-Force Approach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Check </a:t>
            </a:r>
            <a:r>
              <a:rPr lang="en-US" b="1" i="0" dirty="0">
                <a:effectLst/>
                <a:latin typeface="Inter"/>
              </a:rPr>
              <a:t>all possible substrings</a:t>
            </a:r>
            <a:r>
              <a:rPr lang="en-US" b="0" i="0" dirty="0">
                <a:effectLst/>
                <a:latin typeface="Inter"/>
              </a:rPr>
              <a:t> for uniqueness.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Time Complexity: </a:t>
            </a:r>
            <a:r>
              <a:rPr lang="en-US" b="1" i="0" dirty="0">
                <a:effectLst/>
                <a:latin typeface="Inter"/>
              </a:rPr>
              <a:t>O(n³)</a:t>
            </a:r>
            <a:r>
              <a:rPr lang="en-US" b="0" i="0" dirty="0">
                <a:effectLst/>
                <a:latin typeface="Inter"/>
              </a:rPr>
              <a:t> (n² substrings × n checks per substring).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Why Brute Force Fails?</a:t>
            </a:r>
            <a:endParaRPr lang="en-US" b="0" i="0" dirty="0">
              <a:effectLst/>
              <a:latin typeface="Inter"/>
            </a:endParaRPr>
          </a:p>
          <a:p>
            <a:pPr lvl="1"/>
            <a:r>
              <a:rPr lang="en-US" b="0" i="0" dirty="0">
                <a:effectLst/>
                <a:latin typeface="Inter"/>
              </a:rPr>
              <a:t>Extremely slow for long strings (e.g., n=100 → ~1M checks).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30662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624A-BF56-CA6D-0BB7-5FA49A0F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053E-36B3-FD99-4520-72C872DA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effectLst/>
                <a:latin typeface="Inter"/>
              </a:rPr>
              <a:t>Longest Substring Without Repeating Characters</a:t>
            </a:r>
            <a:endParaRPr lang="en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5C73-8FED-673B-E8CA-2A74D9386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559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Optimized Solution: </a:t>
            </a:r>
            <a:r>
              <a:rPr lang="en-US" i="0" dirty="0">
                <a:effectLst/>
                <a:latin typeface="Inter"/>
              </a:rPr>
              <a:t>Sliding Window + Hash Set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it works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Expand the window by moving the right pointer.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a duplicate is found, shrink the window from the left.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Track the maximum window size.</a:t>
            </a:r>
          </a:p>
          <a:p>
            <a:pPr lvl="1"/>
            <a:r>
              <a:rPr lang="en-US" b="0" i="0" dirty="0">
                <a:effectLst/>
                <a:latin typeface="Inter"/>
              </a:rPr>
              <a:t>For input: "</a:t>
            </a:r>
            <a:r>
              <a:rPr lang="en-US" b="0" i="0" dirty="0" err="1">
                <a:effectLst/>
                <a:latin typeface="Inter"/>
              </a:rPr>
              <a:t>abcabcbb</a:t>
            </a:r>
            <a:r>
              <a:rPr lang="en-US" b="0" i="0" dirty="0">
                <a:effectLst/>
                <a:latin typeface="Inter"/>
              </a:rPr>
              <a:t>”</a:t>
            </a:r>
          </a:p>
          <a:p>
            <a:pPr lvl="2"/>
            <a:r>
              <a:rPr lang="en-US" b="0" i="0" dirty="0">
                <a:effectLst/>
                <a:latin typeface="Inter"/>
              </a:rPr>
              <a:t>Window: "a" → "ab" → "</a:t>
            </a:r>
            <a:r>
              <a:rPr lang="en-US" b="0" i="0" dirty="0" err="1">
                <a:effectLst/>
                <a:latin typeface="Inter"/>
              </a:rPr>
              <a:t>abc</a:t>
            </a:r>
            <a:r>
              <a:rPr lang="en-US" b="0" i="0" dirty="0">
                <a:effectLst/>
                <a:latin typeface="Inter"/>
              </a:rPr>
              <a:t>" (</a:t>
            </a:r>
            <a:r>
              <a:rPr lang="en-US" b="0" i="0" dirty="0" err="1">
                <a:effectLst/>
                <a:latin typeface="Inter"/>
              </a:rPr>
              <a:t>max_len</a:t>
            </a:r>
            <a:r>
              <a:rPr lang="en-US" b="0" i="0" dirty="0">
                <a:effectLst/>
                <a:latin typeface="Inter"/>
              </a:rPr>
              <a:t>=3).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Duplicate 'a' → shrink to "</a:t>
            </a:r>
            <a:r>
              <a:rPr lang="en-US" b="0" i="0" dirty="0" err="1">
                <a:effectLst/>
                <a:latin typeface="Inter"/>
              </a:rPr>
              <a:t>bca</a:t>
            </a:r>
            <a:r>
              <a:rPr lang="en-US" b="0" i="0" dirty="0">
                <a:effectLst/>
                <a:latin typeface="Inter"/>
              </a:rPr>
              <a:t>".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Continue until the end.</a:t>
            </a:r>
            <a:endParaRPr lang="en-US" dirty="0">
              <a:latin typeface="Inter"/>
            </a:endParaRPr>
          </a:p>
          <a:p>
            <a:pPr marL="285750" indent="-285750">
              <a:spcBef>
                <a:spcPts val="300"/>
              </a:spcBef>
            </a:pPr>
            <a:r>
              <a:rPr lang="en-US" b="1" dirty="0">
                <a:latin typeface="Inter"/>
              </a:rPr>
              <a:t>Optimization</a:t>
            </a:r>
            <a:r>
              <a:rPr lang="en-US" dirty="0"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Time Complexity:</a:t>
            </a:r>
            <a:r>
              <a:rPr lang="en-US" b="0" i="0" dirty="0">
                <a:effectLst/>
                <a:latin typeface="Inter"/>
              </a:rPr>
              <a:t> O(n)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dirty="0">
                <a:latin typeface="Inter"/>
              </a:rPr>
              <a:t>Space</a:t>
            </a:r>
            <a:r>
              <a:rPr lang="en-US" dirty="0">
                <a:latin typeface="Inter"/>
              </a:rPr>
              <a:t> </a:t>
            </a:r>
            <a:r>
              <a:rPr lang="en-US" b="1" dirty="0">
                <a:latin typeface="Inter"/>
              </a:rPr>
              <a:t>Complexity</a:t>
            </a:r>
            <a:r>
              <a:rPr lang="en-US" dirty="0">
                <a:latin typeface="Inter"/>
              </a:rPr>
              <a:t>: O(1) “Constant Space (26 letters only)”</a:t>
            </a: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9415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1DF-B081-BC7A-2673-71040984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Detect Cycle in a Linked List | Brute Force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1E04-57CA-B81C-9A81-4A902440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Determine if a linked list has a cycle.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Brute-Force Approach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Use a </a:t>
            </a:r>
            <a:r>
              <a:rPr lang="en-US" b="1" i="0" dirty="0">
                <a:effectLst/>
                <a:latin typeface="DeepSeek-CJK-patch"/>
              </a:rPr>
              <a:t>hash set</a:t>
            </a:r>
            <a:r>
              <a:rPr lang="en-US" b="0" i="0" dirty="0">
                <a:effectLst/>
                <a:latin typeface="DeepSeek-CJK-patch"/>
              </a:rPr>
              <a:t> to track visited nodes.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Traverse the list; if a node is revisited, a cycle exists.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Time Complexity</a:t>
            </a:r>
            <a:r>
              <a:rPr lang="en-US" b="0" i="0" dirty="0">
                <a:effectLst/>
                <a:latin typeface="DeepSeek-CJK-patch"/>
              </a:rPr>
              <a:t>: O(n) time and O(n) space (due to the hash set).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DeepSeek-CJK-patch"/>
              </a:rPr>
              <a:t>Why Brute Force Fails?</a:t>
            </a:r>
            <a:endParaRPr lang="en-US" b="0" i="0" dirty="0">
              <a:effectLst/>
              <a:latin typeface="DeepSeek-CJK-patch"/>
            </a:endParaRPr>
          </a:p>
          <a:p>
            <a:pPr lvl="1"/>
            <a:r>
              <a:rPr lang="en-US" b="0" i="0" dirty="0">
                <a:effectLst/>
                <a:latin typeface="DeepSeek-CJK-patch"/>
              </a:rPr>
              <a:t>Uses </a:t>
            </a:r>
            <a:r>
              <a:rPr lang="en-US" b="1" i="0" dirty="0">
                <a:effectLst/>
                <a:latin typeface="DeepSeek-CJK-patch"/>
              </a:rPr>
              <a:t>extra memory (O(n))</a:t>
            </a:r>
            <a:r>
              <a:rPr lang="en-US" b="0" i="0" dirty="0">
                <a:effectLst/>
                <a:latin typeface="DeepSeek-CJK-patch"/>
              </a:rPr>
              <a:t> for the hash set.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DeepSeek-CJK-patch"/>
              </a:rPr>
              <a:t>Can we solve this </a:t>
            </a:r>
            <a:r>
              <a:rPr lang="en-US" b="1" i="0" dirty="0">
                <a:effectLst/>
                <a:latin typeface="DeepSeek-CJK-patch"/>
              </a:rPr>
              <a:t>without extra space</a:t>
            </a:r>
            <a:r>
              <a:rPr lang="en-US" b="0" i="0" dirty="0">
                <a:effectLst/>
                <a:latin typeface="DeepSeek-CJK-patch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8841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891D-D07F-2EE6-2D42-4FB97C02B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Fast and Slow Pointers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1DCB-C6BF-B585-1A61-F65AA5569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37389"/>
          </a:xfrm>
        </p:spPr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two pointers moving at different speeds (e.g., one moves twice as fast).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linked lists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cycle detection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where you need to find the </a:t>
            </a:r>
            <a:r>
              <a:rPr lang="en-US" b="1" i="0" dirty="0">
                <a:effectLst/>
                <a:latin typeface="Inter"/>
              </a:rPr>
              <a:t>middle</a:t>
            </a:r>
            <a:r>
              <a:rPr lang="en-US" b="0" i="0" dirty="0">
                <a:effectLst/>
                <a:latin typeface="Inter"/>
              </a:rPr>
              <a:t> of a sequence.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"linked list"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"cycle"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"middle element"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brute force involves extra space or nested loops, consider fast and slow pointers for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 time and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(1)</a:t>
            </a:r>
            <a:r>
              <a:rPr lang="en-US" b="0" i="0" dirty="0">
                <a:effectLst/>
                <a:latin typeface="Inter"/>
              </a:rPr>
              <a:t> space.</a:t>
            </a:r>
          </a:p>
        </p:txBody>
      </p:sp>
    </p:spTree>
    <p:extLst>
      <p:ext uri="{BB962C8B-B14F-4D97-AF65-F5344CB8AC3E}">
        <p14:creationId xmlns:p14="http://schemas.microsoft.com/office/powerpoint/2010/main" val="410346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BEF3-928B-39DD-5AD7-48F4D9A5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E6AB-AD74-5198-712F-1C8AFC9B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i="0" dirty="0">
                <a:effectLst/>
                <a:latin typeface="Inter"/>
              </a:rPr>
              <a:t>Detect Cycle in a Linked List | Fast Slow Pointers</a:t>
            </a:r>
            <a:endParaRPr lang="en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54D9C-9E73-C2A4-D50C-93215595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Determine if a linked list has a cycle.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Initialize slow and fast pointers at the head.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Move slow by 1 step and fast by 2 steps.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If fast reaches the end, no cycle exists.</a:t>
            </a:r>
          </a:p>
          <a:p>
            <a:pPr marL="914400" lvl="1" indent="-4572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If slow == fast, a cycle is detected.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effectLst/>
                <a:latin typeface="Inter"/>
              </a:rPr>
              <a:t>The fast pointer catches up to the slow pointer if there’s a cycle, similar to two runners on a circular track.</a:t>
            </a:r>
            <a:endParaRPr lang="en-US" b="0" i="0" dirty="0">
              <a:effectLst/>
              <a:latin typeface="DeepSeek-CJK-patch"/>
            </a:endParaRP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Optimization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lvl="1"/>
            <a:r>
              <a:rPr lang="en-US" b="1" i="0" dirty="0">
                <a:effectLst/>
                <a:latin typeface="DeepSeek-CJK-patch"/>
              </a:rPr>
              <a:t>Time Complexity</a:t>
            </a:r>
            <a:r>
              <a:rPr lang="en-US" b="0" i="0" dirty="0">
                <a:effectLst/>
                <a:latin typeface="DeepSeek-CJK-patch"/>
              </a:rPr>
              <a:t>: O(n) (same as brute force).</a:t>
            </a:r>
          </a:p>
          <a:p>
            <a:pPr lvl="1">
              <a:spcBef>
                <a:spcPts val="300"/>
              </a:spcBef>
            </a:pPr>
            <a:r>
              <a:rPr lang="en-US" b="1" i="0" dirty="0">
                <a:effectLst/>
                <a:latin typeface="DeepSeek-CJK-patch"/>
              </a:rPr>
              <a:t>Space Complexity</a:t>
            </a:r>
            <a:r>
              <a:rPr lang="en-US" b="0" i="0" dirty="0">
                <a:effectLst/>
                <a:latin typeface="DeepSeek-CJK-patch"/>
              </a:rPr>
              <a:t>: </a:t>
            </a:r>
            <a:r>
              <a:rPr lang="en-US" b="1" i="0" dirty="0">
                <a:effectLst/>
                <a:latin typeface="DeepSeek-CJK-patch"/>
              </a:rPr>
              <a:t>O(1)</a:t>
            </a:r>
            <a:r>
              <a:rPr lang="en-US" b="0" i="0" dirty="0">
                <a:effectLst/>
                <a:latin typeface="DeepSeek-CJK-patch"/>
              </a:rPr>
              <a:t> (no extra memory used).</a:t>
            </a:r>
          </a:p>
        </p:txBody>
      </p:sp>
    </p:spTree>
    <p:extLst>
      <p:ext uri="{BB962C8B-B14F-4D97-AF65-F5344CB8AC3E}">
        <p14:creationId xmlns:p14="http://schemas.microsoft.com/office/powerpoint/2010/main" val="232753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F592-C552-9A85-066A-1EF0F674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Subarray Sum Equals K | Brute Force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CAAB-9E70-1B0C-9235-7D3DFD79E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an array, find the number of subarrays that sum to a target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Example</a:t>
            </a:r>
            <a:r>
              <a:rPr lang="en-US" b="0" i="0" dirty="0">
                <a:effectLst/>
                <a:latin typeface="DeepSeek-CJK-patch"/>
              </a:rPr>
              <a:t>: </a:t>
            </a:r>
          </a:p>
          <a:p>
            <a:pPr lvl="1"/>
            <a:r>
              <a:rPr lang="en-US" b="1" i="0" dirty="0">
                <a:effectLst/>
                <a:latin typeface="DeepSeek-CJK-patch"/>
              </a:rPr>
              <a:t>Input</a:t>
            </a:r>
            <a:r>
              <a:rPr lang="en-US" b="0" i="0" dirty="0">
                <a:effectLst/>
                <a:latin typeface="DeepSeek-CJK-patch"/>
              </a:rPr>
              <a:t>: </a:t>
            </a:r>
            <a:r>
              <a:rPr lang="en-US" dirty="0" err="1"/>
              <a:t>nums</a:t>
            </a:r>
            <a:r>
              <a:rPr lang="en-US" dirty="0"/>
              <a:t> = [3, 4, -7, 1, 3,3]</a:t>
            </a:r>
            <a:r>
              <a:rPr lang="en-US" b="0" i="0" dirty="0">
                <a:effectLst/>
                <a:latin typeface="DeepSeek-CJK-patch"/>
              </a:rPr>
              <a:t>, </a:t>
            </a:r>
            <a:r>
              <a:rPr lang="en-US" dirty="0"/>
              <a:t>k = 7</a:t>
            </a:r>
          </a:p>
          <a:p>
            <a:pPr lvl="1"/>
            <a:r>
              <a:rPr lang="en-US" b="1" i="0" dirty="0">
                <a:effectLst/>
                <a:latin typeface="DeepSeek-CJK-patch"/>
              </a:rPr>
              <a:t>Output</a:t>
            </a:r>
            <a:r>
              <a:rPr lang="en-US" b="0" i="0" dirty="0">
                <a:effectLst/>
                <a:latin typeface="DeepSeek-CJK-patch"/>
              </a:rPr>
              <a:t>: 3 ( The subarrays are </a:t>
            </a:r>
            <a:r>
              <a:rPr lang="en-US" dirty="0"/>
              <a:t>[3, 4]</a:t>
            </a:r>
            <a:r>
              <a:rPr lang="en-US" dirty="0">
                <a:latin typeface="DeepSeek-CJK-patch"/>
              </a:rPr>
              <a:t>,</a:t>
            </a:r>
            <a:r>
              <a:rPr lang="en-US" b="0" i="0" dirty="0">
                <a:effectLst/>
                <a:latin typeface="DeepSeek-CJK-patch"/>
              </a:rPr>
              <a:t> </a:t>
            </a:r>
            <a:r>
              <a:rPr lang="en-US" dirty="0"/>
              <a:t>[1, 3, 3]</a:t>
            </a:r>
            <a:r>
              <a:rPr lang="en-US" dirty="0">
                <a:latin typeface="DeepSeek-CJK-patch"/>
              </a:rPr>
              <a:t> and [3,4,-7,1,3,3]</a:t>
            </a:r>
            <a:r>
              <a:rPr lang="en-US" b="0" i="0" dirty="0">
                <a:effectLst/>
                <a:latin typeface="DeepSeek-CJK-patch"/>
              </a:rPr>
              <a:t>).</a:t>
            </a:r>
          </a:p>
          <a:p>
            <a:r>
              <a:rPr lang="en-US" b="1" i="0" dirty="0">
                <a:effectLst/>
                <a:latin typeface="DeepSeek-CJK-patch"/>
              </a:rPr>
              <a:t>Brute-Force Approach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DeepSeek-CJK-patch"/>
              </a:rPr>
              <a:t>Check </a:t>
            </a:r>
            <a:r>
              <a:rPr lang="en-US" b="1" i="0" dirty="0">
                <a:effectLst/>
                <a:latin typeface="DeepSeek-CJK-patch"/>
              </a:rPr>
              <a:t>all possible subarrays</a:t>
            </a:r>
            <a:r>
              <a:rPr lang="en-US" b="0" i="0" dirty="0">
                <a:effectLst/>
                <a:latin typeface="DeepSeek-CJK-patch"/>
              </a:rPr>
              <a:t> and count those with sum = k.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DeepSeek-CJK-patch"/>
              </a:rPr>
              <a:t>Time Complexity: </a:t>
            </a:r>
            <a:r>
              <a:rPr lang="en-US" b="1" i="0" dirty="0">
                <a:effectLst/>
                <a:latin typeface="DeepSeek-CJK-patch"/>
              </a:rPr>
              <a:t>O(n²)</a:t>
            </a:r>
            <a:r>
              <a:rPr lang="en-US" b="0" i="0" dirty="0">
                <a:effectLst/>
                <a:latin typeface="DeepSeek-CJK-patch"/>
              </a:rPr>
              <a:t> (nested loops).</a:t>
            </a:r>
          </a:p>
          <a:p>
            <a:pPr>
              <a:spcBef>
                <a:spcPts val="300"/>
              </a:spcBef>
            </a:pPr>
            <a:r>
              <a:rPr lang="en-US" b="1" i="0" dirty="0">
                <a:effectLst/>
                <a:latin typeface="DeepSeek-CJK-patch"/>
              </a:rPr>
              <a:t>Why Brute Force Fails?</a:t>
            </a:r>
          </a:p>
          <a:p>
            <a:pPr lvl="1"/>
            <a:r>
              <a:rPr lang="en-US" b="0" i="0" dirty="0">
                <a:effectLst/>
                <a:latin typeface="DeepSeek-CJK-patch"/>
              </a:rPr>
              <a:t>For large arrays (e.g., n = 10^5), O(n²) is </a:t>
            </a:r>
            <a:r>
              <a:rPr lang="en-US" b="1" i="0" dirty="0">
                <a:effectLst/>
                <a:latin typeface="DeepSeek-CJK-patch"/>
              </a:rPr>
              <a:t>too slow</a:t>
            </a:r>
            <a:r>
              <a:rPr lang="en-US" b="0" i="0" dirty="0">
                <a:effectLst/>
                <a:latin typeface="DeepSeek-CJK-patch"/>
              </a:rPr>
              <a:t> (10^10 operations).</a:t>
            </a:r>
          </a:p>
        </p:txBody>
      </p:sp>
    </p:spTree>
    <p:extLst>
      <p:ext uri="{BB962C8B-B14F-4D97-AF65-F5344CB8AC3E}">
        <p14:creationId xmlns:p14="http://schemas.microsoft.com/office/powerpoint/2010/main" val="2690845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C2CE-46A3-B370-45A4-B3587AD7C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Prefix Sum Technique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9B394-335F-E447-D73A-7AD40B1C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What it is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A precomputed array where each element at index </a:t>
            </a:r>
            <a:r>
              <a:rPr lang="en-US" b="0" i="0" dirty="0" err="1">
                <a:effectLst/>
                <a:latin typeface="DeepSeek-CJK-patch"/>
              </a:rPr>
              <a:t>i</a:t>
            </a:r>
            <a:r>
              <a:rPr lang="en-US" b="0" i="0" dirty="0">
                <a:effectLst/>
                <a:latin typeface="DeepSeek-CJK-patch"/>
              </a:rPr>
              <a:t> is the sum of all previous elements in the original array.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Formula: prefix[</a:t>
            </a:r>
            <a:r>
              <a:rPr lang="en-US" b="0" i="0" dirty="0" err="1">
                <a:effectLst/>
                <a:latin typeface="DeepSeek-CJK-patch"/>
              </a:rPr>
              <a:t>i</a:t>
            </a:r>
            <a:r>
              <a:rPr lang="en-US" b="0" i="0" dirty="0">
                <a:effectLst/>
                <a:latin typeface="DeepSeek-CJK-patch"/>
              </a:rPr>
              <a:t>] = prefix[i-1] + arr[</a:t>
            </a:r>
            <a:r>
              <a:rPr lang="en-US" b="0" i="0" dirty="0" err="1">
                <a:effectLst/>
                <a:latin typeface="DeepSeek-CJK-patch"/>
              </a:rPr>
              <a:t>i</a:t>
            </a:r>
            <a:r>
              <a:rPr lang="en-US" b="0" i="0" dirty="0">
                <a:effectLst/>
                <a:latin typeface="DeepSeek-CJK-patch"/>
              </a:rPr>
              <a:t>]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When to use it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Problems involving </a:t>
            </a:r>
            <a:r>
              <a:rPr lang="en-US" b="1" i="0" dirty="0">
                <a:effectLst/>
                <a:latin typeface="DeepSeek-CJK-patch"/>
              </a:rPr>
              <a:t>range sums</a:t>
            </a:r>
            <a:r>
              <a:rPr lang="en-US" b="0" i="0" dirty="0">
                <a:effectLst/>
                <a:latin typeface="DeepSeek-CJK-patch"/>
              </a:rPr>
              <a:t> or </a:t>
            </a:r>
            <a:r>
              <a:rPr lang="en-US" b="1" i="0" dirty="0">
                <a:effectLst/>
                <a:latin typeface="DeepSeek-CJK-patch"/>
              </a:rPr>
              <a:t>contiguous subarrays</a:t>
            </a:r>
            <a:r>
              <a:rPr lang="en-US" b="0" i="0" dirty="0">
                <a:effectLst/>
                <a:latin typeface="DeepSeek-CJK-patch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Optimizes repeated sum queries from O(n) to O(1).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"subarray sum"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"range sum"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"cumulative"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brute force involves nested loops 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baseline="30000" dirty="0">
                <a:effectLst/>
                <a:latin typeface="KaTeX_Main"/>
              </a:rPr>
              <a:t>2</a:t>
            </a:r>
            <a:r>
              <a:rPr lang="en-US" b="0" i="0" dirty="0">
                <a:effectLst/>
                <a:latin typeface="Inter"/>
              </a:rPr>
              <a:t>), consider prefix sum for </a:t>
            </a:r>
            <a:r>
              <a:rPr lang="en-US" b="0" i="0" dirty="0">
                <a:effectLst/>
                <a:latin typeface="KaTeX_Main"/>
              </a:rPr>
              <a:t>O(n)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384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9EE8-DC4C-3374-C94A-36B64A37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767A-CEC6-480B-1A5F-F7476D16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i="0" dirty="0">
                <a:effectLst/>
                <a:latin typeface="Inter"/>
              </a:rPr>
              <a:t>Subarray Sum Equals K | Prefix Sum + Hash Map</a:t>
            </a:r>
            <a:endParaRPr lang="en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7F15D-58AD-F83C-CF50-D5B18462D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an array, find the number of subarrays that sum to a target value.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lvl="1">
              <a:spcBef>
                <a:spcPts val="300"/>
              </a:spcBef>
              <a:buFont typeface="+mj-lt"/>
              <a:buAutoNum type="arabicPeriod"/>
            </a:pPr>
            <a:r>
              <a:rPr lang="en-US" dirty="0">
                <a:latin typeface="DeepSeek-CJK-patch"/>
              </a:rPr>
              <a:t> </a:t>
            </a:r>
            <a:r>
              <a:rPr lang="en-US" b="0" i="0" dirty="0">
                <a:effectLst/>
                <a:latin typeface="DeepSeek-CJK-patch"/>
              </a:rPr>
              <a:t>Initialize </a:t>
            </a:r>
            <a:r>
              <a:rPr lang="en-US" b="0" i="0" dirty="0" err="1">
                <a:effectLst/>
                <a:latin typeface="DeepSeek-CJK-patch"/>
              </a:rPr>
              <a:t>prefix_sum</a:t>
            </a:r>
            <a:r>
              <a:rPr lang="en-US" b="0" i="0" dirty="0">
                <a:effectLst/>
                <a:latin typeface="DeepSeek-CJK-patch"/>
              </a:rPr>
              <a:t> = 0, count = 0, and </a:t>
            </a:r>
            <a:r>
              <a:rPr lang="en-US" b="0" i="0" dirty="0" err="1">
                <a:effectLst/>
                <a:latin typeface="DeepSeek-CJK-patch"/>
              </a:rPr>
              <a:t>hash_map</a:t>
            </a:r>
            <a:r>
              <a:rPr lang="en-US" b="0" i="0" dirty="0">
                <a:effectLst/>
                <a:latin typeface="DeepSeek-CJK-patch"/>
              </a:rPr>
              <a:t> = {0: 1}.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 Traverse the array:</a:t>
            </a:r>
          </a:p>
          <a:p>
            <a:pPr marL="1200150" lvl="2" indent="-285750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Update </a:t>
            </a:r>
            <a:r>
              <a:rPr lang="en-US" b="0" i="0" dirty="0" err="1">
                <a:effectLst/>
                <a:latin typeface="DeepSeek-CJK-patch"/>
              </a:rPr>
              <a:t>prefix_sum</a:t>
            </a:r>
            <a:r>
              <a:rPr lang="en-US" b="0" i="0" dirty="0">
                <a:effectLst/>
                <a:latin typeface="DeepSeek-CJK-patch"/>
              </a:rPr>
              <a:t> += </a:t>
            </a:r>
            <a:r>
              <a:rPr lang="en-US" b="0" i="0" dirty="0" err="1">
                <a:effectLst/>
                <a:latin typeface="DeepSeek-CJK-patch"/>
              </a:rPr>
              <a:t>nums</a:t>
            </a:r>
            <a:r>
              <a:rPr lang="en-US" b="0" i="0" dirty="0">
                <a:effectLst/>
                <a:latin typeface="DeepSeek-CJK-patch"/>
              </a:rPr>
              <a:t>[</a:t>
            </a:r>
            <a:r>
              <a:rPr lang="en-US" b="0" i="0" dirty="0" err="1">
                <a:effectLst/>
                <a:latin typeface="DeepSeek-CJK-patch"/>
              </a:rPr>
              <a:t>i</a:t>
            </a:r>
            <a:r>
              <a:rPr lang="en-US" b="0" i="0" dirty="0">
                <a:effectLst/>
                <a:latin typeface="DeepSeek-CJK-patch"/>
              </a:rPr>
              <a:t>].</a:t>
            </a:r>
          </a:p>
          <a:p>
            <a:pPr marL="1200150" lvl="2" indent="-285750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If </a:t>
            </a:r>
            <a:r>
              <a:rPr lang="en-US" b="0" i="0" dirty="0" err="1">
                <a:effectLst/>
                <a:latin typeface="DeepSeek-CJK-patch"/>
              </a:rPr>
              <a:t>prefix_sum</a:t>
            </a:r>
            <a:r>
              <a:rPr lang="en-US" b="0" i="0" dirty="0">
                <a:effectLst/>
                <a:latin typeface="DeepSeek-CJK-patch"/>
              </a:rPr>
              <a:t> - k exists in </a:t>
            </a:r>
            <a:r>
              <a:rPr lang="en-US" b="0" i="0" dirty="0" err="1">
                <a:effectLst/>
                <a:latin typeface="DeepSeek-CJK-patch"/>
              </a:rPr>
              <a:t>hash_map</a:t>
            </a:r>
            <a:r>
              <a:rPr lang="en-US" b="0" i="0" dirty="0">
                <a:effectLst/>
                <a:latin typeface="DeepSeek-CJK-patch"/>
              </a:rPr>
              <a:t>, add its frequency to count.</a:t>
            </a:r>
          </a:p>
          <a:p>
            <a:pPr marL="1200150" lvl="2" indent="-285750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DeepSeek-CJK-patch"/>
              </a:rPr>
              <a:t>Record </a:t>
            </a:r>
            <a:r>
              <a:rPr lang="en-US" b="0" i="0" dirty="0" err="1">
                <a:effectLst/>
                <a:latin typeface="DeepSeek-CJK-patch"/>
              </a:rPr>
              <a:t>prefix_sum</a:t>
            </a:r>
            <a:r>
              <a:rPr lang="en-US" b="0" i="0" dirty="0">
                <a:effectLst/>
                <a:latin typeface="DeepSeek-CJK-patch"/>
              </a:rPr>
              <a:t> in </a:t>
            </a:r>
            <a:r>
              <a:rPr lang="en-US" b="0" i="0" dirty="0" err="1">
                <a:effectLst/>
                <a:latin typeface="DeepSeek-CJK-patch"/>
              </a:rPr>
              <a:t>hash_map</a:t>
            </a:r>
            <a:r>
              <a:rPr lang="en-US" b="0" i="0" dirty="0">
                <a:effectLst/>
                <a:latin typeface="DeepSeek-CJK-patch"/>
              </a:rPr>
              <a:t>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The prefix sum allows us to compute subarray sums in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(1)</a:t>
            </a:r>
            <a:r>
              <a:rPr lang="en-US" b="0" i="0" dirty="0">
                <a:effectLst/>
                <a:latin typeface="Inter"/>
              </a:rPr>
              <a:t> time, reducing complexity from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baseline="30000" dirty="0">
                <a:effectLst/>
                <a:latin typeface="KaTeX_Main"/>
              </a:rPr>
              <a:t>2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 to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5588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79BE-8DED-70CC-3FE7-08160D832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>
                <a:latin typeface="Inter"/>
              </a:rPr>
              <a:t>Step By Step Execution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DDCD37-0A7F-ED6F-29E0-123F6BD8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EG" altLang="en-EG" sz="1200" b="1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DeepSeek-CJK-patch"/>
              </a:rPr>
              <a:t>Step-by-Step Execution</a:t>
            </a:r>
            <a:r>
              <a:rPr kumimoji="0" lang="en-EG" altLang="en-EG" sz="1200" b="0" i="0" u="none" strike="noStrike" cap="none" normalizeH="0" baseline="0">
                <a:ln>
                  <a:noFill/>
                </a:ln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kumimoji="0" lang="en-EG" altLang="en-E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FE7F3F6-E7FC-3ADA-4F3F-B385DBF6FA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941604"/>
              </p:ext>
            </p:extLst>
          </p:nvPr>
        </p:nvGraphicFramePr>
        <p:xfrm>
          <a:off x="838200" y="1825625"/>
          <a:ext cx="10573011" cy="43513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7866">
                  <a:extLst>
                    <a:ext uri="{9D8B030D-6E8A-4147-A177-3AD203B41FA5}">
                      <a16:colId xmlns:a16="http://schemas.microsoft.com/office/drawing/2014/main" val="3122266716"/>
                    </a:ext>
                  </a:extLst>
                </a:gridCol>
                <a:gridCol w="776613">
                  <a:extLst>
                    <a:ext uri="{9D8B030D-6E8A-4147-A177-3AD203B41FA5}">
                      <a16:colId xmlns:a16="http://schemas.microsoft.com/office/drawing/2014/main" val="343205081"/>
                    </a:ext>
                  </a:extLst>
                </a:gridCol>
                <a:gridCol w="1139869">
                  <a:extLst>
                    <a:ext uri="{9D8B030D-6E8A-4147-A177-3AD203B41FA5}">
                      <a16:colId xmlns:a16="http://schemas.microsoft.com/office/drawing/2014/main" val="4210603623"/>
                    </a:ext>
                  </a:extLst>
                </a:gridCol>
                <a:gridCol w="2404997">
                  <a:extLst>
                    <a:ext uri="{9D8B030D-6E8A-4147-A177-3AD203B41FA5}">
                      <a16:colId xmlns:a16="http://schemas.microsoft.com/office/drawing/2014/main" val="3880703230"/>
                    </a:ext>
                  </a:extLst>
                </a:gridCol>
                <a:gridCol w="2404997">
                  <a:extLst>
                    <a:ext uri="{9D8B030D-6E8A-4147-A177-3AD203B41FA5}">
                      <a16:colId xmlns:a16="http://schemas.microsoft.com/office/drawing/2014/main" val="2855624193"/>
                    </a:ext>
                  </a:extLst>
                </a:gridCol>
                <a:gridCol w="1265129">
                  <a:extLst>
                    <a:ext uri="{9D8B030D-6E8A-4147-A177-3AD203B41FA5}">
                      <a16:colId xmlns:a16="http://schemas.microsoft.com/office/drawing/2014/main" val="1292957864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455199645"/>
                    </a:ext>
                  </a:extLst>
                </a:gridCol>
              </a:tblGrid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Index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Num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Prefix Sum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Check prefix_sum - k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Hash Map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</a:rPr>
                        <a:t>Count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effectLst/>
                        </a:rPr>
                        <a:t>Valid Subarrays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668537496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0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 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0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85731569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0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-4 (Not in map)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{0:1, 3:1}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0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17357027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4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7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 (Frequency=1)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{0:1, 3:1, 7:1}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[3,4]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337393221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2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-7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0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-7 (Not in map)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 dirty="0">
                          <a:effectLst/>
                        </a:rPr>
                        <a:t>{0:2, 3:1, 7:1}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476967574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-6 (Not in map)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{0:2, 1:1, 3:1, 7:1}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6833459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4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4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-3 (Not in map)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{0:2, 1:1, 3:1, 4:1, 7:1}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-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40260122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5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7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0 (Frequency=2)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{0:2, 1:1, 3:1, 4:1, 7:2}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>
                          <a:effectLst/>
                        </a:rPr>
                        <a:t>3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600" dirty="0">
                          <a:effectLst/>
                        </a:rPr>
                        <a:t>[1,3,3]</a:t>
                      </a:r>
                    </a:p>
                    <a:p>
                      <a:pPr algn="ctr"/>
                      <a:r>
                        <a:rPr lang="en-US" sz="1600" dirty="0">
                          <a:effectLst/>
                        </a:rPr>
                        <a:t>A</a:t>
                      </a:r>
                      <a:r>
                        <a:rPr lang="en-EG" sz="1600" dirty="0">
                          <a:effectLst/>
                        </a:rPr>
                        <a:t>nd [3,4,-7,1,3,3]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550668353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7D1C4EE3-E039-71C4-9BF5-D6E6C09B7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EG" altLang="en-E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EG" altLang="en-E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321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4573-2322-A019-63B2-528B266A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4524-FB45-03F7-C692-2398C66CD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Prefix Sum + Hash Map</a:t>
            </a:r>
            <a:r>
              <a:rPr lang="en-US" b="0" i="0" dirty="0">
                <a:effectLst/>
                <a:latin typeface="DeepSeek-CJK-patch"/>
              </a:rPr>
              <a:t> is the </a:t>
            </a:r>
            <a:r>
              <a:rPr lang="en-US" b="1" i="0" dirty="0">
                <a:effectLst/>
                <a:latin typeface="DeepSeek-CJK-patch"/>
              </a:rPr>
              <a:t>optimal</a:t>
            </a:r>
            <a:r>
              <a:rPr lang="en-US" b="0" i="0" dirty="0">
                <a:effectLst/>
                <a:latin typeface="DeepSeek-CJK-patch"/>
              </a:rPr>
              <a:t> approach for subarray sum problems.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Steps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Track cumulative sums.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Use a hash map to count valid subarrays in O(1) time.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Practice Problems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strike="noStrike" dirty="0">
                <a:effectLst/>
                <a:latin typeface="DeepSeek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#560: Subarray Sum Equals K</a:t>
            </a:r>
            <a:endParaRPr lang="en-US" b="0" i="0" dirty="0"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strike="noStrike" dirty="0">
                <a:effectLst/>
                <a:latin typeface="DeepSeek-CJK-patc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#325: Maximum Size Subarray Sum Equals k</a:t>
            </a:r>
            <a:endParaRPr lang="en-US" b="0" i="0" dirty="0">
              <a:effectLst/>
              <a:latin typeface="DeepSeek-CJK-patch"/>
            </a:endParaRP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773172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AB69-655A-D6E5-BF2B-CAFF9C5B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Greedy Algorithms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24B43-0F75-C119-98B1-4C4B506FD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 greedy algorithm makes </a:t>
            </a:r>
            <a:r>
              <a:rPr lang="en-US" b="1" i="0" dirty="0">
                <a:effectLst/>
                <a:latin typeface="Inter"/>
              </a:rPr>
              <a:t>locally optimal choices</a:t>
            </a:r>
            <a:r>
              <a:rPr lang="en-US" b="0" i="0" dirty="0">
                <a:effectLst/>
                <a:latin typeface="Inter"/>
              </a:rPr>
              <a:t> at each step with the hope of finding a </a:t>
            </a:r>
            <a:r>
              <a:rPr lang="en-US" b="1" i="0" dirty="0">
                <a:effectLst/>
                <a:latin typeface="Inter"/>
              </a:rPr>
              <a:t>global optimum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It does not always guarantee the best solution but works for many problems.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where </a:t>
            </a:r>
            <a:r>
              <a:rPr lang="en-US" b="1" i="0" dirty="0">
                <a:effectLst/>
                <a:latin typeface="Inter"/>
              </a:rPr>
              <a:t>local optimization</a:t>
            </a:r>
            <a:r>
              <a:rPr lang="en-US" b="0" i="0" dirty="0">
                <a:effectLst/>
                <a:latin typeface="Inter"/>
              </a:rPr>
              <a:t> leads to a </a:t>
            </a:r>
            <a:r>
              <a:rPr lang="en-US" b="1" i="0" dirty="0">
                <a:effectLst/>
                <a:latin typeface="Inter"/>
              </a:rPr>
              <a:t>global optimum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Often used in </a:t>
            </a:r>
            <a:r>
              <a:rPr lang="en-US" b="1" i="0" dirty="0">
                <a:effectLst/>
                <a:latin typeface="Inter"/>
              </a:rPr>
              <a:t>scheduling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sorting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selection</a:t>
            </a:r>
            <a:r>
              <a:rPr lang="en-US" b="0" i="0" dirty="0">
                <a:effectLst/>
                <a:latin typeface="Inter"/>
              </a:rPr>
              <a:t> problems.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"maximum"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"minimum"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"optimal"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the problem can be broken into steps where the best local choice leads to the best global solution.</a:t>
            </a:r>
          </a:p>
        </p:txBody>
      </p:sp>
    </p:spTree>
    <p:extLst>
      <p:ext uri="{BB962C8B-B14F-4D97-AF65-F5344CB8AC3E}">
        <p14:creationId xmlns:p14="http://schemas.microsoft.com/office/powerpoint/2010/main" val="3995268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344D-A542-B13E-FE10-161DC167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5E39-E6D0-11D2-950D-6C7195E9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Activity Selection Problem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B4D8D-16E3-3429-AED4-BFF1DA27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8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 set of activities with start and end times, select the maximum number of non-overlapping activities.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Sort activities by their </a:t>
            </a:r>
            <a:r>
              <a:rPr lang="en-US" b="1" i="0" dirty="0">
                <a:effectLst/>
                <a:latin typeface="Inter"/>
              </a:rPr>
              <a:t>end times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Select the first activity.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For each subsequent activity, if it doesn’t overlap with the last selected activity, select it.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By always choosing the activity with the </a:t>
            </a:r>
            <a:r>
              <a:rPr lang="en-US" b="1" i="0" dirty="0">
                <a:effectLst/>
                <a:latin typeface="Inter"/>
              </a:rPr>
              <a:t>earliest end time</a:t>
            </a:r>
            <a:r>
              <a:rPr lang="en-US" b="0" i="0" dirty="0">
                <a:effectLst/>
                <a:latin typeface="Inter"/>
              </a:rPr>
              <a:t>, we maximize the number of non-overlapping activities.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This works because selecting the activity that finishes first leaves more room for other activities.</a:t>
            </a:r>
          </a:p>
        </p:txBody>
      </p:sp>
    </p:spTree>
    <p:extLst>
      <p:ext uri="{BB962C8B-B14F-4D97-AF65-F5344CB8AC3E}">
        <p14:creationId xmlns:p14="http://schemas.microsoft.com/office/powerpoint/2010/main" val="2711989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E902-FD25-F18D-D9EB-8EB03136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A173-332B-E1CE-32A0-1A0EE9F5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Dynamic Programming (DP)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7BF2-A1AE-820A-773A-C48E7FFCF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Break a problem into smaller subproblems and store their solutions to avoid redundant calculations.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Uses </a:t>
            </a:r>
            <a:r>
              <a:rPr lang="en-US" b="1" i="0" dirty="0">
                <a:effectLst/>
                <a:latin typeface="Inter"/>
              </a:rPr>
              <a:t>memoization</a:t>
            </a:r>
            <a:r>
              <a:rPr lang="en-US" b="0" i="0" dirty="0">
                <a:effectLst/>
                <a:latin typeface="Inter"/>
              </a:rPr>
              <a:t> (top-down) or </a:t>
            </a:r>
            <a:r>
              <a:rPr lang="en-US" b="1" i="0" dirty="0">
                <a:effectLst/>
                <a:latin typeface="Inter"/>
              </a:rPr>
              <a:t>tabulation</a:t>
            </a:r>
            <a:r>
              <a:rPr lang="en-US" b="0" i="0" dirty="0">
                <a:effectLst/>
                <a:latin typeface="Inter"/>
              </a:rPr>
              <a:t> (bottom-up) to store intermediate results.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with </a:t>
            </a:r>
            <a:r>
              <a:rPr lang="en-US" b="1" i="0" dirty="0">
                <a:effectLst/>
                <a:latin typeface="Inter"/>
              </a:rPr>
              <a:t>overlapping subproblems</a:t>
            </a:r>
            <a:r>
              <a:rPr lang="en-US" b="0" i="0" dirty="0">
                <a:effectLst/>
                <a:latin typeface="Inter"/>
              </a:rPr>
              <a:t> and </a:t>
            </a:r>
            <a:r>
              <a:rPr lang="en-US" b="1" i="0" dirty="0">
                <a:effectLst/>
                <a:latin typeface="Inter"/>
              </a:rPr>
              <a:t>optimal substructure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"maximum"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"minimum"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"count possibilities"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the problem can be divided into smaller subproblems that are reused.</a:t>
            </a:r>
          </a:p>
        </p:txBody>
      </p:sp>
    </p:spTree>
    <p:extLst>
      <p:ext uri="{BB962C8B-B14F-4D97-AF65-F5344CB8AC3E}">
        <p14:creationId xmlns:p14="http://schemas.microsoft.com/office/powerpoint/2010/main" val="3390606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5935E-7C8B-DAD2-F6EA-512CF7B2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D02B-FFD7-A598-5C4E-1847812F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Fibonacci Sequence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CDDE-32A6-97EB-C62D-C5245761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Compute the </a:t>
            </a:r>
            <a:r>
              <a:rPr lang="en-US" b="0" i="0" dirty="0" err="1">
                <a:effectLst/>
                <a:latin typeface="KaTeX_Main"/>
              </a:rPr>
              <a:t>n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 err="1">
                <a:effectLst/>
                <a:latin typeface="Inter"/>
              </a:rPr>
              <a:t>-th</a:t>
            </a:r>
            <a:r>
              <a:rPr lang="en-US" b="0" i="0" dirty="0">
                <a:effectLst/>
                <a:latin typeface="Inter"/>
              </a:rPr>
              <a:t> Fibonacci number.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 DP array to store Fibonacci numbers up to </a:t>
            </a:r>
            <a:r>
              <a:rPr lang="en-US" b="0" i="0" dirty="0" err="1">
                <a:effectLst/>
                <a:latin typeface="KaTeX_Main"/>
              </a:rPr>
              <a:t>n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Compute each Fibonacci number using the previous two.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The DP array avoids redundant calculations, reducing complexity from </a:t>
            </a:r>
            <a:r>
              <a:rPr lang="en-US" b="0" i="0" dirty="0">
                <a:effectLst/>
                <a:latin typeface="KaTeX_Main"/>
              </a:rPr>
              <a:t>O(2</a:t>
            </a:r>
            <a:r>
              <a:rPr lang="en-US" b="0" i="0" baseline="30000" dirty="0">
                <a:effectLst/>
                <a:latin typeface="KaTeX_Main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1" dirty="0">
                <a:effectLst/>
                <a:latin typeface="KaTeX_Math"/>
              </a:rPr>
              <a:t> </a:t>
            </a:r>
            <a:r>
              <a:rPr lang="en-US" b="0" i="0" dirty="0">
                <a:effectLst/>
                <a:latin typeface="Inter"/>
              </a:rPr>
              <a:t>to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6238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BD49-5450-C399-6EC4-8DED266D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0247-769F-673D-D0E2-031976D4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Binary Search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3EF3-8935-4BE7-F030-BC3DB2D8F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Efficiently search for an element or condition in a </a:t>
            </a:r>
            <a:r>
              <a:rPr lang="en-US" b="1" i="0" dirty="0">
                <a:effectLst/>
                <a:latin typeface="Inter"/>
              </a:rPr>
              <a:t>sorted array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sorted data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search conditions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"sorted array"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"search"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"find position"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If brute force involves linear search 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, consider binary search for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0" dirty="0" err="1">
                <a:effectLst/>
                <a:latin typeface="KaTeX_Main"/>
              </a:rPr>
              <a:t>log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196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C79F-AE35-B4C9-97E0-CFAD2697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B9E2-F180-1922-C1C4-EB55AF5F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</a:t>
            </a:r>
            <a:r>
              <a:rPr lang="en-US" i="0" dirty="0">
                <a:effectLst/>
                <a:latin typeface="DeepSeek-CJK-patch"/>
              </a:rPr>
              <a:t>Search in Rotated Sorted Array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704A-C264-84FF-F016-BE7620123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</a:t>
            </a:r>
            <a:r>
              <a:rPr lang="en-US" b="0" i="0" dirty="0">
                <a:effectLst/>
                <a:latin typeface="DeepSeek-CJK-patch"/>
              </a:rPr>
              <a:t>Given a </a:t>
            </a:r>
            <a:r>
              <a:rPr lang="en-US" b="1" i="0" dirty="0">
                <a:effectLst/>
                <a:latin typeface="DeepSeek-CJK-patch"/>
              </a:rPr>
              <a:t>rotated sorted array</a:t>
            </a:r>
            <a:r>
              <a:rPr lang="en-US" b="0" i="0" dirty="0">
                <a:effectLst/>
                <a:latin typeface="DeepSeek-CJK-patch"/>
              </a:rPr>
              <a:t> (e.g., </a:t>
            </a:r>
            <a:r>
              <a:rPr lang="en-US" dirty="0"/>
              <a:t>[4,5,6,7,0,1,2]</a:t>
            </a:r>
            <a:r>
              <a:rPr lang="en-US" b="0" i="0" dirty="0">
                <a:effectLst/>
                <a:latin typeface="DeepSeek-CJK-patch"/>
              </a:rPr>
              <a:t>) and a target value </a:t>
            </a:r>
            <a:r>
              <a:rPr lang="en-US" dirty="0"/>
              <a:t>target</a:t>
            </a:r>
            <a:r>
              <a:rPr lang="en-US" b="0" i="0" dirty="0">
                <a:effectLst/>
                <a:latin typeface="DeepSeek-CJK-patch"/>
              </a:rPr>
              <a:t>, return the index of </a:t>
            </a:r>
            <a:r>
              <a:rPr lang="en-US" dirty="0"/>
              <a:t>target</a:t>
            </a:r>
            <a:r>
              <a:rPr lang="en-US" b="0" i="0" dirty="0">
                <a:effectLst/>
                <a:latin typeface="DeepSeek-CJK-patch"/>
              </a:rPr>
              <a:t> in the array. If not found, return </a:t>
            </a:r>
            <a:r>
              <a:rPr lang="en-US" dirty="0"/>
              <a:t>-1</a:t>
            </a:r>
            <a:r>
              <a:rPr lang="en-US" b="0" i="0" dirty="0">
                <a:effectLst/>
                <a:latin typeface="DeepSeek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DeepSeek-CJK-patch"/>
              </a:rPr>
              <a:t>Example</a:t>
            </a:r>
            <a:r>
              <a:rPr lang="en-US" b="0" i="0" dirty="0">
                <a:effectLst/>
                <a:latin typeface="DeepSeek-CJK-patch"/>
              </a:rPr>
              <a:t>:</a:t>
            </a:r>
          </a:p>
          <a:p>
            <a:pPr lvl="1"/>
            <a:r>
              <a:rPr lang="en-US" b="1" i="0" dirty="0">
                <a:effectLst/>
                <a:latin typeface="DeepSeek-CJK-patch"/>
              </a:rPr>
              <a:t>Input</a:t>
            </a:r>
            <a:r>
              <a:rPr lang="en-US" b="0" i="0" dirty="0">
                <a:effectLst/>
                <a:latin typeface="DeepSeek-CJK-patch"/>
              </a:rPr>
              <a:t>: </a:t>
            </a:r>
            <a:r>
              <a:rPr lang="en-US" dirty="0" err="1"/>
              <a:t>nums</a:t>
            </a:r>
            <a:r>
              <a:rPr lang="en-US" dirty="0"/>
              <a:t> = [4,5,6,7,0,1,2]</a:t>
            </a:r>
            <a:r>
              <a:rPr lang="en-US" b="0" i="0" dirty="0">
                <a:effectLst/>
                <a:latin typeface="DeepSeek-CJK-patch"/>
              </a:rPr>
              <a:t>, </a:t>
            </a:r>
            <a:r>
              <a:rPr lang="en-US" dirty="0"/>
              <a:t>target = 0</a:t>
            </a:r>
          </a:p>
          <a:p>
            <a:pPr lvl="1"/>
            <a:r>
              <a:rPr lang="en-US" b="1" i="0" dirty="0">
                <a:effectLst/>
                <a:latin typeface="DeepSeek-CJK-patch"/>
              </a:rPr>
              <a:t>Output</a:t>
            </a:r>
            <a:r>
              <a:rPr lang="en-US" b="0" i="0" dirty="0">
                <a:effectLst/>
                <a:latin typeface="DeepSeek-CJK-patch"/>
              </a:rPr>
              <a:t>: </a:t>
            </a:r>
            <a:r>
              <a:rPr lang="en-US" dirty="0"/>
              <a:t>4</a:t>
            </a:r>
            <a:r>
              <a:rPr lang="en-US" b="0" i="0" dirty="0">
                <a:effectLst/>
                <a:latin typeface="DeepSeek-CJK-patch"/>
              </a:rPr>
              <a:t> (index of </a:t>
            </a:r>
            <a:r>
              <a:rPr lang="en-US" dirty="0"/>
              <a:t>0</a:t>
            </a:r>
            <a:r>
              <a:rPr lang="en-US" b="0" i="0" dirty="0">
                <a:effectLst/>
                <a:latin typeface="DeepSeek-CJK-patch"/>
              </a:rPr>
              <a:t>).</a:t>
            </a:r>
            <a:endParaRPr lang="en-US" b="1" i="0" dirty="0">
              <a:effectLst/>
              <a:latin typeface="DeepSeek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Brute Force 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linear search to find the target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Time Complexity: </a:t>
            </a:r>
            <a:r>
              <a:rPr lang="en-US" i="0" dirty="0">
                <a:effectLst/>
                <a:latin typeface="Inter"/>
              </a:rPr>
              <a:t>O(N)</a:t>
            </a: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0032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30C6F-CFCF-DC0F-BB65-FCE7F160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8DCD-4915-084E-EB90-447469E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49" y="365125"/>
            <a:ext cx="10752551" cy="1325563"/>
          </a:xfrm>
        </p:spPr>
        <p:txBody>
          <a:bodyPr>
            <a:normAutofit/>
          </a:bodyPr>
          <a:lstStyle/>
          <a:p>
            <a:r>
              <a:rPr lang="en-US" sz="4000" i="0" dirty="0">
                <a:effectLst/>
                <a:latin typeface="DeepSeek-CJK-patch"/>
              </a:rPr>
              <a:t>Search Rotated Sorted Array | Partial Binary Search</a:t>
            </a:r>
            <a:endParaRPr lang="en-E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DC867-E240-4458-CCB3-70694C0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Why Partial Binary Search Works</a:t>
            </a:r>
          </a:p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	Property of Rotated Sorted Arrays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The array is </a:t>
            </a:r>
            <a:r>
              <a:rPr lang="en-US" b="1" i="0" dirty="0">
                <a:effectLst/>
                <a:latin typeface="Inter"/>
              </a:rPr>
              <a:t>partially sorted</a:t>
            </a:r>
            <a:r>
              <a:rPr lang="en-US" b="0" i="0" dirty="0">
                <a:effectLst/>
                <a:latin typeface="Inter"/>
              </a:rPr>
              <a:t> (divided into two sorted subarrays).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Example: [4,5,6,7,0,1,2] → [4,5,6,7] and [0,1,2].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b="1" i="0" dirty="0">
                <a:effectLst/>
                <a:latin typeface="Inter"/>
              </a:rPr>
              <a:t>   Key Insight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i="0" dirty="0">
                <a:effectLst/>
                <a:latin typeface="Inter"/>
              </a:rPr>
              <a:t>One half of the array is always sorted (even after rotation).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i="0" dirty="0">
                <a:effectLst/>
                <a:latin typeface="Inter"/>
              </a:rPr>
              <a:t>Use binary search to determine which half is sorted and whether target lies in that half.</a:t>
            </a:r>
          </a:p>
        </p:txBody>
      </p:sp>
    </p:spTree>
    <p:extLst>
      <p:ext uri="{BB962C8B-B14F-4D97-AF65-F5344CB8AC3E}">
        <p14:creationId xmlns:p14="http://schemas.microsoft.com/office/powerpoint/2010/main" val="2145248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1534-A32A-2D59-6A3D-85292158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Example Walkthrough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81CA53E-066B-7B2D-C58A-916FDAE48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420950"/>
              </p:ext>
            </p:extLst>
          </p:nvPr>
        </p:nvGraphicFramePr>
        <p:xfrm>
          <a:off x="989838" y="2732436"/>
          <a:ext cx="10212324" cy="29015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01176">
                  <a:extLst>
                    <a:ext uri="{9D8B030D-6E8A-4147-A177-3AD203B41FA5}">
                      <a16:colId xmlns:a16="http://schemas.microsoft.com/office/drawing/2014/main" val="3146556487"/>
                    </a:ext>
                  </a:extLst>
                </a:gridCol>
                <a:gridCol w="839244">
                  <a:extLst>
                    <a:ext uri="{9D8B030D-6E8A-4147-A177-3AD203B41FA5}">
                      <a16:colId xmlns:a16="http://schemas.microsoft.com/office/drawing/2014/main" val="2017988328"/>
                    </a:ext>
                  </a:extLst>
                </a:gridCol>
                <a:gridCol w="901874">
                  <a:extLst>
                    <a:ext uri="{9D8B030D-6E8A-4147-A177-3AD203B41FA5}">
                      <a16:colId xmlns:a16="http://schemas.microsoft.com/office/drawing/2014/main" val="3608021877"/>
                    </a:ext>
                  </a:extLst>
                </a:gridCol>
                <a:gridCol w="864295">
                  <a:extLst>
                    <a:ext uri="{9D8B030D-6E8A-4147-A177-3AD203B41FA5}">
                      <a16:colId xmlns:a16="http://schemas.microsoft.com/office/drawing/2014/main" val="91925557"/>
                    </a:ext>
                  </a:extLst>
                </a:gridCol>
                <a:gridCol w="1215025">
                  <a:extLst>
                    <a:ext uri="{9D8B030D-6E8A-4147-A177-3AD203B41FA5}">
                      <a16:colId xmlns:a16="http://schemas.microsoft.com/office/drawing/2014/main" val="3791251839"/>
                    </a:ext>
                  </a:extLst>
                </a:gridCol>
                <a:gridCol w="5690710">
                  <a:extLst>
                    <a:ext uri="{9D8B030D-6E8A-4147-A177-3AD203B41FA5}">
                      <a16:colId xmlns:a16="http://schemas.microsoft.com/office/drawing/2014/main" val="960662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effectLst/>
                        </a:rPr>
                        <a:t>Step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effectLst/>
                        </a:rPr>
                        <a:t>left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effectLst/>
                        </a:rPr>
                        <a:t>right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effectLst/>
                        </a:rPr>
                        <a:t>mid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effectLst/>
                        </a:rPr>
                        <a:t>nums[mid]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effectLst/>
                        </a:rPr>
                        <a:t>Action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896049016"/>
                  </a:ext>
                </a:extLst>
              </a:tr>
              <a:tr h="1005089">
                <a:tc>
                  <a:txBody>
                    <a:bodyPr/>
                    <a:lstStyle/>
                    <a:p>
                      <a:pPr algn="ctr"/>
                      <a:r>
                        <a:rPr lang="en-EG" sz="1700" dirty="0">
                          <a:effectLst/>
                        </a:rPr>
                        <a:t>1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 dirty="0">
                          <a:effectLst/>
                        </a:rPr>
                        <a:t>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6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3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7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7 != 0; left half [4,5,6,7] is sorted. 0 not in [4,7] → search right (left = 4).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413470115"/>
                  </a:ext>
                </a:extLst>
              </a:tr>
              <a:tr h="926927"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2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 dirty="0">
                          <a:effectLst/>
                        </a:rPr>
                        <a:t>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 dirty="0">
                          <a:effectLst/>
                        </a:rPr>
                        <a:t>6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1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1 != 0; right half [1,2] is sorted. 0 not in [1,2] → search left (right = 4).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26483440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3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 dirty="0">
                          <a:effectLst/>
                        </a:rPr>
                        <a:t>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EG" sz="1700">
                          <a:effectLst/>
                        </a:rPr>
                        <a:t>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0 == 0 → return 4.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425581851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4DBBC03-C705-0CBD-1B49-352EB8D36D33}"/>
              </a:ext>
            </a:extLst>
          </p:cNvPr>
          <p:cNvSpPr txBox="1">
            <a:spLocks/>
          </p:cNvSpPr>
          <p:nvPr/>
        </p:nvSpPr>
        <p:spPr>
          <a:xfrm>
            <a:off x="838200" y="14068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0" dirty="0">
                <a:effectLst/>
                <a:latin typeface="Inter"/>
              </a:rPr>
              <a:t>Input</a:t>
            </a:r>
            <a:r>
              <a:rPr lang="en-US" sz="2400" b="0" i="0" dirty="0">
                <a:effectLst/>
                <a:latin typeface="Inter"/>
              </a:rPr>
              <a:t>: </a:t>
            </a:r>
            <a:r>
              <a:rPr lang="en-US" sz="2400" dirty="0" err="1"/>
              <a:t>nums</a:t>
            </a:r>
            <a:r>
              <a:rPr lang="en-US" sz="2400" dirty="0"/>
              <a:t> = [4,5,6,7,0,1,2]</a:t>
            </a:r>
            <a:r>
              <a:rPr lang="en-US" sz="2400" b="0" i="0" dirty="0">
                <a:effectLst/>
                <a:latin typeface="Inter"/>
              </a:rPr>
              <a:t>, </a:t>
            </a:r>
            <a:r>
              <a:rPr lang="en-US" sz="2400" dirty="0"/>
              <a:t>target = 0</a:t>
            </a:r>
            <a:endParaRPr lang="en-EG" sz="2400" b="1" dirty="0"/>
          </a:p>
        </p:txBody>
      </p:sp>
    </p:spTree>
    <p:extLst>
      <p:ext uri="{BB962C8B-B14F-4D97-AF65-F5344CB8AC3E}">
        <p14:creationId xmlns:p14="http://schemas.microsoft.com/office/powerpoint/2010/main" val="1013839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7166-7A83-51D0-AE41-DA08DCB5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1C40-5001-4518-1C6E-F81F994E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String Techniques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7F4DA-AFE0-AE3C-E3C3-C294DB47D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Techniques for solving problems involving </a:t>
            </a:r>
            <a:r>
              <a:rPr lang="en-US" b="1" i="0" dirty="0">
                <a:effectLst/>
                <a:latin typeface="Inter"/>
              </a:rPr>
              <a:t>strings</a:t>
            </a:r>
            <a:r>
              <a:rPr lang="en-US" b="0" i="0" dirty="0">
                <a:effectLst/>
                <a:latin typeface="Inter"/>
              </a:rPr>
              <a:t> (sequences of characters).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Key Techniques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Pattern Matching.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Palindrome Detection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Anagram Problems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String Hashing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Trie (Prefix Tree)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848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8EB9-E691-A1C8-AF92-F45C3703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Find a Pattern in a Text | Brute Force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BF821-622F-8113-41C3-288765067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5641" cy="466725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 Statement</a:t>
            </a:r>
            <a:r>
              <a:rPr lang="en-US" b="0" i="0" dirty="0">
                <a:effectLst/>
                <a:latin typeface="Inter"/>
              </a:rPr>
              <a:t>: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Given a text, return all starting indices where the pattern appears in 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Example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lvl="1"/>
            <a:r>
              <a:rPr lang="en-US" b="1" i="0" dirty="0">
                <a:effectLst/>
                <a:latin typeface="Inter"/>
              </a:rPr>
              <a:t>Input</a:t>
            </a:r>
            <a:r>
              <a:rPr lang="en-US" b="0" i="0" dirty="0">
                <a:effectLst/>
                <a:latin typeface="Inter"/>
              </a:rPr>
              <a:t>: text = "ABABDABACDABABCABAB", pattern = "ABABC”</a:t>
            </a:r>
          </a:p>
          <a:p>
            <a:pPr lvl="1"/>
            <a:r>
              <a:rPr lang="en-US" b="1" i="0" dirty="0">
                <a:effectLst/>
                <a:latin typeface="Inter"/>
              </a:rPr>
              <a:t>Brute-force output</a:t>
            </a:r>
            <a:r>
              <a:rPr lang="en-US" b="0" i="0" dirty="0">
                <a:effectLst/>
                <a:latin typeface="Inter"/>
              </a:rPr>
              <a:t>: [10] (pattern starts at index 10).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Brute-Force Approach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Slide the pattern over the text and check for matches at every position.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Time Complexity</a:t>
            </a:r>
            <a:r>
              <a:rPr lang="en-US" b="0" i="0" dirty="0">
                <a:effectLst/>
                <a:latin typeface="Inter"/>
              </a:rPr>
              <a:t>: O(</a:t>
            </a:r>
            <a:r>
              <a:rPr lang="en-US" b="0" i="0" dirty="0" err="1">
                <a:effectLst/>
                <a:latin typeface="Inter"/>
              </a:rPr>
              <a:t>m·n</a:t>
            </a:r>
            <a:r>
              <a:rPr lang="en-US" b="0" i="0" dirty="0">
                <a:effectLst/>
                <a:latin typeface="Inter"/>
              </a:rPr>
              <a:t>), where m = </a:t>
            </a:r>
            <a:r>
              <a:rPr lang="en-US" b="0" i="0" dirty="0" err="1">
                <a:effectLst/>
                <a:latin typeface="Inter"/>
              </a:rPr>
              <a:t>len</a:t>
            </a:r>
            <a:r>
              <a:rPr lang="en-US" b="0" i="0" dirty="0">
                <a:effectLst/>
                <a:latin typeface="Inter"/>
              </a:rPr>
              <a:t>(pattern), n = </a:t>
            </a:r>
            <a:r>
              <a:rPr lang="en-US" b="0" i="0" dirty="0" err="1">
                <a:effectLst/>
                <a:latin typeface="Inter"/>
              </a:rPr>
              <a:t>len</a:t>
            </a:r>
            <a:r>
              <a:rPr lang="en-US" b="0" i="0" dirty="0">
                <a:effectLst/>
                <a:latin typeface="Inter"/>
              </a:rPr>
              <a:t>(text).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Why Brute Force Fails?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Inefficient for large texts (e.g., DNA sequences).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Rechecks already matched characters (e.g., after a mismatch at </a:t>
            </a:r>
            <a:r>
              <a:rPr lang="en-US" b="0" i="0" dirty="0" err="1">
                <a:effectLst/>
                <a:latin typeface="Inter"/>
              </a:rPr>
              <a:t>i</a:t>
            </a:r>
            <a:r>
              <a:rPr lang="en-US" b="0" i="0" dirty="0">
                <a:effectLst/>
                <a:latin typeface="Inter"/>
              </a:rPr>
              <a:t>=2, it restarts from </a:t>
            </a:r>
            <a:r>
              <a:rPr lang="en-US" b="0" i="0" dirty="0" err="1">
                <a:effectLst/>
                <a:latin typeface="Inter"/>
              </a:rPr>
              <a:t>i</a:t>
            </a:r>
            <a:r>
              <a:rPr lang="en-US" b="0" i="0" dirty="0">
                <a:effectLst/>
                <a:latin typeface="Inter"/>
              </a:rPr>
              <a:t>=1).</a:t>
            </a:r>
          </a:p>
        </p:txBody>
      </p:sp>
    </p:spTree>
    <p:extLst>
      <p:ext uri="{BB962C8B-B14F-4D97-AF65-F5344CB8AC3E}">
        <p14:creationId xmlns:p14="http://schemas.microsoft.com/office/powerpoint/2010/main" val="2002968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6001-0B04-A97F-BA12-128AEE5C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Pattern Matching (KMP Algorithm)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0CD4-9E14-E7B0-0EDA-49B90AD67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98001"/>
          </a:xfrm>
        </p:spPr>
        <p:txBody>
          <a:bodyPr>
            <a:normAutofit lnSpcReduction="1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 </a:t>
            </a:r>
            <a:r>
              <a:rPr lang="en-US" b="1" i="0" dirty="0">
                <a:effectLst/>
                <a:latin typeface="Inter"/>
              </a:rPr>
              <a:t>Knuth-Morris-Pratt (KMP)</a:t>
            </a:r>
            <a:r>
              <a:rPr lang="en-US" b="0" i="0" dirty="0">
                <a:effectLst/>
                <a:latin typeface="Inter"/>
              </a:rPr>
              <a:t> algorithm is an efficient way to perform pattern matching.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Preprocesses the pattern to create a </a:t>
            </a:r>
            <a:r>
              <a:rPr lang="en-US" b="1" i="0" dirty="0">
                <a:effectLst/>
                <a:latin typeface="Inter"/>
              </a:rPr>
              <a:t>Longest Prefix Suffix (LPS)</a:t>
            </a:r>
            <a:r>
              <a:rPr lang="en-US" b="0" i="0" dirty="0">
                <a:effectLst/>
                <a:latin typeface="Inter"/>
              </a:rPr>
              <a:t> array, which helps skip unnecessary comparisons.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When a mismatch occurs, LPS tells us how much to shift the pattern without rechecking known matches.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substring search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pattern matching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When brute force 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 err="1">
                <a:effectLst/>
                <a:latin typeface="KaTeX_Main"/>
              </a:rPr>
              <a:t>⋅</a:t>
            </a:r>
            <a:r>
              <a:rPr lang="en-US" b="0" i="1" dirty="0" err="1">
                <a:effectLst/>
                <a:latin typeface="KaTeX_Math"/>
              </a:rPr>
              <a:t>m</a:t>
            </a:r>
            <a:r>
              <a:rPr lang="en-US" b="0" i="0" dirty="0">
                <a:effectLst/>
                <a:latin typeface="Inter"/>
              </a:rPr>
              <a:t>) is too slow, KMP reduces complexity to </a:t>
            </a:r>
            <a:r>
              <a:rPr lang="en-US" b="0" i="1" dirty="0">
                <a:effectLst/>
                <a:latin typeface="KaTeX_Math"/>
              </a:rPr>
              <a:t>O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 err="1">
                <a:effectLst/>
                <a:latin typeface="KaTeX_Main"/>
              </a:rPr>
              <a:t>+</a:t>
            </a:r>
            <a:r>
              <a:rPr lang="en-US" b="0" i="1" dirty="0" err="1">
                <a:effectLst/>
                <a:latin typeface="KaTeX_Math"/>
              </a:rPr>
              <a:t>m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"find substring"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"pattern matching"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"search for occurrence"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6512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6646-BEE4-F5CD-7368-E867F581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CF37-2064-AE95-203D-26576F9F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Find a Pattern in a Text | KMP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D8D4-19BA-D843-9398-0E7056E7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Find all occurrences of a pattern in a text.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Preprocess the pattern to create a </a:t>
            </a:r>
            <a:r>
              <a:rPr lang="en-US" b="1" i="0" dirty="0">
                <a:effectLst/>
                <a:latin typeface="Inter"/>
              </a:rPr>
              <a:t>prefix table</a:t>
            </a:r>
            <a:r>
              <a:rPr lang="en-US" b="0" i="0" dirty="0">
                <a:effectLst/>
                <a:latin typeface="Inter"/>
              </a:rPr>
              <a:t> (LPS array).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 LPS array stores the length of the longest prefix that is also a suffix for each substring of the pattern.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the prefix table to skip unnecessary comparisons during the search.</a:t>
            </a:r>
          </a:p>
        </p:txBody>
      </p:sp>
    </p:spTree>
    <p:extLst>
      <p:ext uri="{BB962C8B-B14F-4D97-AF65-F5344CB8AC3E}">
        <p14:creationId xmlns:p14="http://schemas.microsoft.com/office/powerpoint/2010/main" val="2269763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5411-9C28-A869-C641-BC6A474B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5C12-99E1-75B4-DDD9-DEF5B669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Find a Pattern in a Text | KMP (LPS Array)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2D73-4EE4-9A25-8B6B-E7727114E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b="0" i="0" dirty="0">
                <a:effectLst/>
                <a:latin typeface="Inter"/>
              </a:rPr>
              <a:t>For pattern = "ABABC":</a:t>
            </a:r>
          </a:p>
          <a:p>
            <a:pPr>
              <a:spcAft>
                <a:spcPts val="300"/>
              </a:spcAft>
            </a:pPr>
            <a:r>
              <a:rPr lang="en-US" b="0" i="0" dirty="0">
                <a:effectLst/>
                <a:latin typeface="Inter"/>
              </a:rPr>
              <a:t>LPS = [0, 0, 1, 2, 0]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effectLst/>
                <a:latin typeface="Inter"/>
              </a:rPr>
              <a:t>Explanation: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"A": 0 (no prefix/suffix)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"AB": 0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"ABA": 1 ("A" is both prefix and suffix)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"ABAB": 2 ("AB" is both prefix and suffix)</a:t>
            </a:r>
          </a:p>
          <a:p>
            <a:pPr lvl="1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"ABABC": 0</a:t>
            </a:r>
          </a:p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How LPS Optimizes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After a mismatch, shift the pattern by j - LPS[j-1] (where j is the mismatch position in the pattern).</a:t>
            </a:r>
          </a:p>
        </p:txBody>
      </p:sp>
    </p:spTree>
    <p:extLst>
      <p:ext uri="{BB962C8B-B14F-4D97-AF65-F5344CB8AC3E}">
        <p14:creationId xmlns:p14="http://schemas.microsoft.com/office/powerpoint/2010/main" val="1190214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6266-3102-632A-7D37-5E70F3C5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521C-F5CE-0CF9-DEB2-8C1DA1153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Find a Pattern in a Text | KMP (Execution)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01D4-7431-046C-08F4-36C41FECB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 Preprocessing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pattern = "ABABC" → LPS = [0, 0, 1, 2, 0].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 Searching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Mismatch at pattern[4] ("C") vs text[14] ("A"):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Shift pattern by j - LPS[j-1] = 4 - LPS[3] = 4 - 2 = 2.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Resume comparison at text[14] and pattern[2].</a:t>
            </a:r>
            <a:endParaRPr lang="en-US" dirty="0">
              <a:latin typeface="Inter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b="1" dirty="0">
                <a:latin typeface="Inter"/>
              </a:rPr>
              <a:t>Visualization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en-US" b="1" dirty="0"/>
              <a:t>Text</a:t>
            </a:r>
            <a:r>
              <a:rPr lang="en-US" dirty="0"/>
              <a:t>: A B A B D A B A C D A B A B C A B A B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en-US" b="1" dirty="0"/>
              <a:t>Pattern</a:t>
            </a:r>
            <a:r>
              <a:rPr lang="en-US" dirty="0"/>
              <a:t>: A B A B C (mismatch at C) Shift: ---&gt; A B A B C (shift by 2 using LPS) Match found at index 10! 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65853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CC5E-8119-3199-DE7B-DD13B723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More Illustartion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D7750-955C-3A0B-5BBA-FF37E02F5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Have a quick look on this 5 minutes amazing video: </a:t>
            </a:r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=ynv7bbcSLKE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820181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8AF4D-830D-A5D5-654A-1F3D3057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9F9F-D016-3A0E-CC60-9313D273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Palindrome Detection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B53B4-6AAB-D28B-00CB-8BA3ED15F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 palindrome is a string that reads the same backward as forward (e.g., "madam" or "racecar").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palindromic substrings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sequences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Common in problems like finding the longest palindromic substring or counting palindromic substrings.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"palindrome"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"symmetric string"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"read the same backward"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020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4A0F-29ED-8069-909C-D38B8B5F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D469-F52E-743E-016C-723C8F48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Longest Palindromic Substring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1D6A-8F76-25A3-FB01-5A93823E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Find the longest palindromic substring in a given string.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 </a:t>
            </a:r>
            <a:r>
              <a:rPr lang="en-US" b="1" i="0" dirty="0">
                <a:effectLst/>
                <a:latin typeface="Inter"/>
              </a:rPr>
              <a:t>center expansion</a:t>
            </a:r>
            <a:r>
              <a:rPr lang="en-US" b="0" i="0" dirty="0">
                <a:effectLst/>
                <a:latin typeface="Inter"/>
              </a:rPr>
              <a:t> approach.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For each character in the string, expand around it to find the longest palindrome.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Handle both odd-length and even-length palindromes.</a:t>
            </a:r>
          </a:p>
          <a:p>
            <a:pPr algn="l">
              <a:buNone/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Treat each character as the center of the palindrome.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Expand outward while the characters on both sides match.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41290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AC055-BC2C-D48B-F253-06EE1E29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9AD5-E95D-CE6D-965E-A30C38DB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Anagrams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ABB82-DB8A-2E1F-0E43-F5446B316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An anagram is a word or phrase formed by rearranging the letters of another (e.g., "listen" and "silent").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anagram detection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grouping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Common in problems like finding all anagrams of a word or grouping anagrams in a list.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"anagram"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"rearrange letters"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"group similar words"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172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3E59-E8A5-86F4-662E-25D3AA44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10A8-EB31-B169-57A9-95976211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Group Anagrams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75692-2CE8-5D8E-AFD4-50ADCF228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Given a list of words, group the anagrams together.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 hash map to group words with the same sorted representation.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 sorted version of an anagram is the same for all words in the group.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For each word, sort its characters to create a key.</a:t>
            </a:r>
          </a:p>
          <a:p>
            <a:pPr lvl="1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Use the key to group words in a hash map.</a:t>
            </a:r>
          </a:p>
        </p:txBody>
      </p:sp>
    </p:spTree>
    <p:extLst>
      <p:ext uri="{BB962C8B-B14F-4D97-AF65-F5344CB8AC3E}">
        <p14:creationId xmlns:p14="http://schemas.microsoft.com/office/powerpoint/2010/main" val="3029808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1866-1C0C-9B68-A646-9C490EA2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14D3-ABAB-FC3E-4FC1-716F3212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String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B48DF-CA4E-689D-7F66-0E8940158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 hash function to map strings to integers for efficient comparison.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Commonly used in </a:t>
            </a:r>
            <a:r>
              <a:rPr lang="en-US" b="1" i="0" dirty="0">
                <a:effectLst/>
                <a:latin typeface="Inter"/>
              </a:rPr>
              <a:t>Rabin-Karp algorithm</a:t>
            </a:r>
            <a:r>
              <a:rPr lang="en-US" b="0" i="0" dirty="0">
                <a:effectLst/>
                <a:latin typeface="Inter"/>
              </a:rPr>
              <a:t> for pattern matching.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string comparison</a:t>
            </a:r>
            <a:r>
              <a:rPr lang="en-US" b="0" i="0" dirty="0">
                <a:effectLst/>
                <a:latin typeface="Inter"/>
              </a:rPr>
              <a:t> or </a:t>
            </a:r>
            <a:r>
              <a:rPr lang="en-US" b="1" i="0" dirty="0">
                <a:effectLst/>
                <a:latin typeface="Inter"/>
              </a:rPr>
              <a:t>pattern matching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When brute force is too slow, hashing reduces complexity.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"compare strings"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"efficient matching"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"rolling hash"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9164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2641-EC69-6078-E96B-486B162B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EC6F-DC2C-6AD4-D909-01F158AF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Rolling Hash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4D8B7-0B1F-BFB4-A473-257C57032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Find all occurrences of a pattern in a text using hashing.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Compute the hash of the pattern and the hash of each substring of the text.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Compare the hashes to find matches.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Preprocessing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Compute the hash of the pattern.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Compute the hash of the first window of the text.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Rolling Hash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Slide the window through the text, updating the hash efficiently.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If the hash matches, compare the actual strings to avoid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733721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93712-F149-1422-F353-47AC0863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2236-4AD0-C98D-35F2-57B37A03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Trie (Prefix Tree)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70D7-2730-B50F-97B8-5A35BA9EA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 tree-like data structure used to store and retrieve strings efficiently.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Each node represents a character, and paths represent words.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prefix matching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autocomplete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dictionary storage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"prefix"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"dictionary"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"autocomplete"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4330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E8578-3C95-D6D7-D9FF-6834FA86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B088-EC7B-EF47-A01A-8EEEE9C1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Problem: Implement a Trie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682D-2370-A6F8-7AC4-2460CD129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Implement a </a:t>
            </a:r>
            <a:r>
              <a:rPr lang="en-US" b="0" i="0" dirty="0" err="1">
                <a:effectLst/>
                <a:latin typeface="Inter"/>
              </a:rPr>
              <a:t>trie</a:t>
            </a:r>
            <a:r>
              <a:rPr lang="en-US" b="0" i="0" dirty="0">
                <a:effectLst/>
                <a:latin typeface="Inter"/>
              </a:rPr>
              <a:t> with insert, search, and </a:t>
            </a:r>
            <a:r>
              <a:rPr lang="en-US" b="0" i="0" dirty="0" err="1">
                <a:effectLst/>
                <a:latin typeface="Inter"/>
              </a:rPr>
              <a:t>startsWith</a:t>
            </a:r>
            <a:r>
              <a:rPr lang="en-US" b="0" i="0" dirty="0">
                <a:effectLst/>
                <a:latin typeface="Inter"/>
              </a:rPr>
              <a:t> operations.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 </a:t>
            </a:r>
            <a:r>
              <a:rPr lang="en-US" b="0" i="0" dirty="0" err="1">
                <a:effectLst/>
                <a:latin typeface="Inter"/>
              </a:rPr>
              <a:t>TrieNode</a:t>
            </a:r>
            <a:r>
              <a:rPr lang="en-US" b="0" i="0" dirty="0">
                <a:effectLst/>
                <a:latin typeface="Inter"/>
              </a:rPr>
              <a:t> class to represent each character.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a Trie class to manage the root node and operations.</a:t>
            </a:r>
          </a:p>
          <a:p>
            <a:pPr marL="285750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Explanation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Insert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Traverse the </a:t>
            </a:r>
            <a:r>
              <a:rPr lang="en-US" b="0" i="0" dirty="0" err="1">
                <a:effectLst/>
                <a:latin typeface="Inter"/>
              </a:rPr>
              <a:t>trie</a:t>
            </a:r>
            <a:r>
              <a:rPr lang="en-US" b="0" i="0" dirty="0">
                <a:effectLst/>
                <a:latin typeface="Inter"/>
              </a:rPr>
              <a:t>, adding nodes for each character in the word.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Mark the end of the word with a flag.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>
                <a:effectLst/>
                <a:latin typeface="Inter"/>
              </a:rPr>
              <a:t>Search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Traverse the </a:t>
            </a:r>
            <a:r>
              <a:rPr lang="en-US" b="0" i="0" dirty="0" err="1">
                <a:effectLst/>
                <a:latin typeface="Inter"/>
              </a:rPr>
              <a:t>trie</a:t>
            </a:r>
            <a:r>
              <a:rPr lang="en-US" b="0" i="0" dirty="0">
                <a:effectLst/>
                <a:latin typeface="Inter"/>
              </a:rPr>
              <a:t> to check if the word exists.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b="1" i="0" dirty="0" err="1">
                <a:effectLst/>
                <a:latin typeface="Inter"/>
              </a:rPr>
              <a:t>StartsWith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1200150" lvl="2" indent="-285750">
              <a:spcBef>
                <a:spcPts val="300"/>
              </a:spcBef>
            </a:pPr>
            <a:r>
              <a:rPr lang="en-US" b="0" i="0" dirty="0">
                <a:effectLst/>
                <a:latin typeface="Inter"/>
              </a:rPr>
              <a:t>Traverse the </a:t>
            </a:r>
            <a:r>
              <a:rPr lang="en-US" b="0" i="0" dirty="0" err="1">
                <a:effectLst/>
                <a:latin typeface="Inter"/>
              </a:rPr>
              <a:t>trie</a:t>
            </a:r>
            <a:r>
              <a:rPr lang="en-US" b="0" i="0" dirty="0">
                <a:effectLst/>
                <a:latin typeface="Inter"/>
              </a:rPr>
              <a:t> to check if any word starts with the prefix.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229183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6756-2BEC-0588-768F-B14D56E1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3442-F3E5-A294-4B5D-812DA698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776A-394D-A78D-28C5-3722A5CD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Inter"/>
              </a:rPr>
              <a:t>A systematic way to explore all possible solutions to a problem by building candidates incrementally and abandoning them as soon as they fail to satisfy constraints.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Inter"/>
              </a:rPr>
              <a:t>Problems involving </a:t>
            </a:r>
            <a:r>
              <a:rPr lang="en-US" b="1" i="0" dirty="0">
                <a:effectLst/>
                <a:latin typeface="Inter"/>
              </a:rPr>
              <a:t>permutations</a:t>
            </a:r>
            <a:r>
              <a:rPr lang="en-US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combinations</a:t>
            </a:r>
            <a:r>
              <a:rPr lang="en-US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exhaustive search</a:t>
            </a:r>
            <a:r>
              <a:rPr lang="en-US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Inter"/>
              </a:rPr>
              <a:t>Examples: N-Queens, Sudoku, Subsets, Permutations.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"all possible solutions"</a:t>
            </a:r>
            <a:r>
              <a:rPr lang="en-US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"generate permutations"</a:t>
            </a:r>
            <a:r>
              <a:rPr lang="en-US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"find all combinations"</a:t>
            </a:r>
            <a:r>
              <a:rPr lang="en-US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495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57D8-7768-8FC3-9E6E-F5BAB43F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4DA7-DF9A-9954-8C8B-552E2C29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Inter"/>
              </a:rPr>
              <a:t>Problem: N-Queens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DBFF-C34F-D3F9-D716-135029B2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306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Place 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Inter"/>
              </a:rPr>
              <a:t> queens on an 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 err="1">
                <a:effectLst/>
                <a:latin typeface="KaTeX_Main"/>
              </a:rPr>
              <a:t>×</a:t>
            </a:r>
            <a:r>
              <a:rPr lang="en-US" b="0" i="1" dirty="0" err="1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Inter"/>
              </a:rPr>
              <a:t> chessboard such that no two queens threaten each other.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Use backtracking to place queens row by row.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For each row, try placing a queen in every column.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If a placement is valid, move to the next row.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Inter"/>
              </a:rPr>
              <a:t>If no valid placement exists, backtrack and try the next column.</a:t>
            </a:r>
          </a:p>
          <a:p>
            <a:pPr marL="285750" indent="-285750">
              <a:spcBef>
                <a:spcPts val="300"/>
              </a:spcBef>
            </a:pPr>
            <a:r>
              <a:rPr lang="en-US" b="1" dirty="0">
                <a:latin typeface="Inter"/>
              </a:rPr>
              <a:t>Complexity Analysis:</a:t>
            </a:r>
          </a:p>
          <a:p>
            <a:pPr marL="742950" lvl="1" indent="-285750">
              <a:spcBef>
                <a:spcPts val="300"/>
              </a:spcBef>
            </a:pPr>
            <a:r>
              <a:rPr lang="en-US" dirty="0">
                <a:latin typeface="Inter"/>
              </a:rPr>
              <a:t>The time complexity of this algorithm is O(N!), where N is the number of queens because there are N possibilities to place the first queen, N-2 possibilities for the second queen, N-4 possibilities for the third queen, and so on.</a:t>
            </a:r>
          </a:p>
        </p:txBody>
      </p:sp>
    </p:spTree>
    <p:extLst>
      <p:ext uri="{BB962C8B-B14F-4D97-AF65-F5344CB8AC3E}">
        <p14:creationId xmlns:p14="http://schemas.microsoft.com/office/powerpoint/2010/main" val="34904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6AA0-A460-B62F-3F25-8963F2DD8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9DAE79-21A9-81A2-9DFF-F57FA7885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545" y="373031"/>
            <a:ext cx="8878910" cy="611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5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3546-C2AE-0B58-3364-33F34AA8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2D81-177C-5008-2224-15B2593F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Inter"/>
              </a:rPr>
              <a:t>Divide and Conquer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F9DDD-EF58-5E31-E71D-F8D83A442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What it is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Break a problem into smaller subproblems, solve them recursively, and combine their results to solve the original problem.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When to use it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Problems that can be divided into </a:t>
            </a:r>
            <a:r>
              <a:rPr lang="en-US" b="1" i="0" dirty="0">
                <a:effectLst/>
                <a:latin typeface="Inter"/>
              </a:rPr>
              <a:t>independent subproblems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Examples: Merge Sort, Quick Sort, Binary Search, Closest Pair of Points.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How to detect the pattern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Look for keywords like </a:t>
            </a:r>
            <a:r>
              <a:rPr lang="en-US" b="1" i="0" dirty="0">
                <a:effectLst/>
                <a:latin typeface="Inter"/>
              </a:rPr>
              <a:t>"divide into subproblems"</a:t>
            </a:r>
            <a:r>
              <a:rPr lang="en-US" b="0" i="0" dirty="0">
                <a:effectLst/>
                <a:latin typeface="Inter"/>
              </a:rPr>
              <a:t>, </a:t>
            </a:r>
            <a:r>
              <a:rPr lang="en-US" b="1" i="0" dirty="0">
                <a:effectLst/>
                <a:latin typeface="Inter"/>
              </a:rPr>
              <a:t>"recursive solution"</a:t>
            </a:r>
            <a:r>
              <a:rPr lang="en-US" b="0" i="0" dirty="0">
                <a:effectLst/>
                <a:latin typeface="Inter"/>
              </a:rPr>
              <a:t>, or </a:t>
            </a:r>
            <a:r>
              <a:rPr lang="en-US" b="1" i="0" dirty="0">
                <a:effectLst/>
                <a:latin typeface="Inter"/>
              </a:rPr>
              <a:t>"combine results"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9139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EEB53-5E19-3912-9F5D-69ACAC99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5207-0D57-BC7B-3DED-906C9B54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b="1" dirty="0"/>
              <a:t>Problem: 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60E1-4048-3966-A45B-5FF28C6AB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Problem</a:t>
            </a:r>
            <a:r>
              <a:rPr lang="en-US" b="0" i="0" dirty="0">
                <a:effectLst/>
                <a:latin typeface="Inter"/>
              </a:rPr>
              <a:t>: Sort an array using the divide-and-conquer approach.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Solution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Divide the array into two halves.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Recursively sort each half.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Merge the two sorted halves.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99386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4081</Words>
  <Application>Microsoft Macintosh PowerPoint</Application>
  <PresentationFormat>Widescreen</PresentationFormat>
  <Paragraphs>460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DeepSeek-CJK-patch</vt:lpstr>
      <vt:lpstr>Inter</vt:lpstr>
      <vt:lpstr>KaTeX_Main</vt:lpstr>
      <vt:lpstr>KaTeX_Math</vt:lpstr>
      <vt:lpstr>Office Theme</vt:lpstr>
      <vt:lpstr>Problem Solving Techniques</vt:lpstr>
      <vt:lpstr>Introduction</vt:lpstr>
      <vt:lpstr>Two Sum | Brute Force</vt:lpstr>
      <vt:lpstr>Two-Pointer Technique</vt:lpstr>
      <vt:lpstr>Two Sum | Two Pointers</vt:lpstr>
      <vt:lpstr>Max Sum Subarray of Size K | Brute Force</vt:lpstr>
      <vt:lpstr>Sliding Window Technique</vt:lpstr>
      <vt:lpstr>Max Sum Subarray of Size K | Sliding Window</vt:lpstr>
      <vt:lpstr>Longest Substring Without Repeating Characters</vt:lpstr>
      <vt:lpstr>Longest Substring Without Repeating Characters</vt:lpstr>
      <vt:lpstr>Detect Cycle in a Linked List | Brute Force</vt:lpstr>
      <vt:lpstr>Fast and Slow Pointers</vt:lpstr>
      <vt:lpstr>Detect Cycle in a Linked List | Fast Slow Pointers</vt:lpstr>
      <vt:lpstr>Subarray Sum Equals K | Brute Force</vt:lpstr>
      <vt:lpstr>Prefix Sum Technique</vt:lpstr>
      <vt:lpstr>Subarray Sum Equals K | Prefix Sum + Hash Map</vt:lpstr>
      <vt:lpstr>Step By Step Execution</vt:lpstr>
      <vt:lpstr>Key Takeaways</vt:lpstr>
      <vt:lpstr>Greedy Algorithms</vt:lpstr>
      <vt:lpstr>Problem: Activity Selection Problem</vt:lpstr>
      <vt:lpstr>Dynamic Programming (DP)</vt:lpstr>
      <vt:lpstr>Problem: Fibonacci Sequence</vt:lpstr>
      <vt:lpstr>Binary Search</vt:lpstr>
      <vt:lpstr>Problem: Search in Rotated Sorted Array</vt:lpstr>
      <vt:lpstr>Search Rotated Sorted Array | Partial Binary Search</vt:lpstr>
      <vt:lpstr>Example Walkthrough</vt:lpstr>
      <vt:lpstr>String Techniques</vt:lpstr>
      <vt:lpstr>Find a Pattern in a Text | Brute Force</vt:lpstr>
      <vt:lpstr>Pattern Matching (KMP Algorithm)</vt:lpstr>
      <vt:lpstr>Find a Pattern in a Text | KMP</vt:lpstr>
      <vt:lpstr>Find a Pattern in a Text | KMP (LPS Array)</vt:lpstr>
      <vt:lpstr>Find a Pattern in a Text | KMP (Execution)</vt:lpstr>
      <vt:lpstr>More Illustartion</vt:lpstr>
      <vt:lpstr>Palindrome Detection</vt:lpstr>
      <vt:lpstr>Problem: Longest Palindromic Substring</vt:lpstr>
      <vt:lpstr>Anagrams</vt:lpstr>
      <vt:lpstr>Problem: Group Anagrams</vt:lpstr>
      <vt:lpstr>String Hashing</vt:lpstr>
      <vt:lpstr>Problem: Rolling Hash</vt:lpstr>
      <vt:lpstr>Trie (Prefix Tree)</vt:lpstr>
      <vt:lpstr>Problem: Implement a Trie</vt:lpstr>
      <vt:lpstr>Backtracking</vt:lpstr>
      <vt:lpstr>Problem: N-Queens</vt:lpstr>
      <vt:lpstr>PowerPoint Presentation</vt:lpstr>
      <vt:lpstr>Divide and Conquer</vt:lpstr>
      <vt:lpstr>Problem: 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Abdulkariim</dc:creator>
  <cp:lastModifiedBy>Muhammad Abdulkariim</cp:lastModifiedBy>
  <cp:revision>7</cp:revision>
  <dcterms:created xsi:type="dcterms:W3CDTF">2025-03-11T22:36:46Z</dcterms:created>
  <dcterms:modified xsi:type="dcterms:W3CDTF">2025-04-01T19:33:27Z</dcterms:modified>
</cp:coreProperties>
</file>